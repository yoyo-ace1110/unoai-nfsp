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0279975" cy="428085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473" userDrawn="1">
          <p15:clr>
            <a:srgbClr val="A4A3A4"/>
          </p15:clr>
        </p15:guide>
        <p15:guide id="2" pos="10205" userDrawn="1">
          <p15:clr>
            <a:srgbClr val="A4A3A4"/>
          </p15:clr>
        </p15:guide>
        <p15:guide id="3" orient="horz" pos="13484">
          <p15:clr>
            <a:srgbClr val="A4A3A4"/>
          </p15:clr>
        </p15:guide>
        <p15:guide id="4" pos="953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EDA"/>
    <a:srgbClr val="0000FF"/>
    <a:srgbClr val="FDFD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30" d="100"/>
          <a:sy n="30" d="100"/>
        </p:scale>
        <p:origin x="2052" y="-2874"/>
      </p:cViewPr>
      <p:guideLst>
        <p:guide orient="horz" pos="12473"/>
        <p:guide pos="10205"/>
        <p:guide orient="horz" pos="13484"/>
        <p:guide pos="953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999" y="7005935"/>
            <a:ext cx="25737979" cy="14903709"/>
          </a:xfrm>
        </p:spPr>
        <p:txBody>
          <a:bodyPr anchor="b"/>
          <a:lstStyle>
            <a:lvl1pPr algn="ctr">
              <a:defRPr sz="21259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997" y="22484388"/>
            <a:ext cx="22709981" cy="10335481"/>
          </a:xfrm>
        </p:spPr>
        <p:txBody>
          <a:bodyPr/>
          <a:lstStyle>
            <a:lvl1pPr marL="0" indent="0" algn="ctr">
              <a:buNone/>
              <a:defRPr sz="8504"/>
            </a:lvl1pPr>
            <a:lvl2pPr marL="1619951" indent="0" algn="ctr">
              <a:buNone/>
              <a:defRPr sz="7086"/>
            </a:lvl2pPr>
            <a:lvl3pPr marL="3239902" indent="0" algn="ctr">
              <a:buNone/>
              <a:defRPr sz="6378"/>
            </a:lvl3pPr>
            <a:lvl4pPr marL="4859853" indent="0" algn="ctr">
              <a:buNone/>
              <a:defRPr sz="5669"/>
            </a:lvl4pPr>
            <a:lvl5pPr marL="6479804" indent="0" algn="ctr">
              <a:buNone/>
              <a:defRPr sz="5669"/>
            </a:lvl5pPr>
            <a:lvl6pPr marL="8099755" indent="0" algn="ctr">
              <a:buNone/>
              <a:defRPr sz="5669"/>
            </a:lvl6pPr>
            <a:lvl7pPr marL="9719706" indent="0" algn="ctr">
              <a:buNone/>
              <a:defRPr sz="5669"/>
            </a:lvl7pPr>
            <a:lvl8pPr marL="11339657" indent="0" algn="ctr">
              <a:buNone/>
              <a:defRPr sz="5669"/>
            </a:lvl8pPr>
            <a:lvl9pPr marL="12959608" indent="0" algn="ctr">
              <a:buNone/>
              <a:defRPr sz="5669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AD935-F2AD-416B-B02B-2E90B45F9487}" type="datetimeFigureOut">
              <a:rPr lang="zh-TW" altLang="en-US" smtClean="0"/>
              <a:t>2022/12/8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296F5-06D2-4953-972C-060A1EB5725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079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AD935-F2AD-416B-B02B-2E90B45F9487}" type="datetimeFigureOut">
              <a:rPr lang="zh-TW" altLang="en-US" smtClean="0"/>
              <a:t>2022/12/8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296F5-06D2-4953-972C-060A1EB5725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8064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979" y="10672417"/>
            <a:ext cx="26116479" cy="17807154"/>
          </a:xfrm>
        </p:spPr>
        <p:txBody>
          <a:bodyPr anchor="b"/>
          <a:lstStyle>
            <a:lvl1pPr>
              <a:defRPr sz="21259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979" y="28648033"/>
            <a:ext cx="26116479" cy="9364361"/>
          </a:xfrm>
        </p:spPr>
        <p:txBody>
          <a:bodyPr/>
          <a:lstStyle>
            <a:lvl1pPr marL="0" indent="0">
              <a:buNone/>
              <a:defRPr sz="8504">
                <a:solidFill>
                  <a:schemeClr val="tx1"/>
                </a:solidFill>
              </a:defRPr>
            </a:lvl1pPr>
            <a:lvl2pPr marL="1619951" indent="0">
              <a:buNone/>
              <a:defRPr sz="7086">
                <a:solidFill>
                  <a:schemeClr val="tx1">
                    <a:tint val="75000"/>
                  </a:schemeClr>
                </a:solidFill>
              </a:defRPr>
            </a:lvl2pPr>
            <a:lvl3pPr marL="3239902" indent="0">
              <a:buNone/>
              <a:defRPr sz="6378">
                <a:solidFill>
                  <a:schemeClr val="tx1">
                    <a:tint val="75000"/>
                  </a:schemeClr>
                </a:solidFill>
              </a:defRPr>
            </a:lvl3pPr>
            <a:lvl4pPr marL="4859853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4pPr>
            <a:lvl5pPr marL="6479804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5pPr>
            <a:lvl6pPr marL="8099755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6pPr>
            <a:lvl7pPr marL="9719706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7pPr>
            <a:lvl8pPr marL="11339657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8pPr>
            <a:lvl9pPr marL="12959608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AD935-F2AD-416B-B02B-2E90B45F9487}" type="datetimeFigureOut">
              <a:rPr lang="zh-TW" altLang="en-US" smtClean="0"/>
              <a:t>2022/12/8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296F5-06D2-4953-972C-060A1EB5725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8156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749" y="11395787"/>
            <a:ext cx="12868989" cy="27161616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9238" y="11395787"/>
            <a:ext cx="12868989" cy="27161616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AD935-F2AD-416B-B02B-2E90B45F9487}" type="datetimeFigureOut">
              <a:rPr lang="zh-TW" altLang="en-US" smtClean="0"/>
              <a:t>2022/12/8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296F5-06D2-4953-972C-060A1EB5725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5352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692" y="2279167"/>
            <a:ext cx="26116479" cy="8274336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697" y="10494037"/>
            <a:ext cx="12809846" cy="5142966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697" y="15637004"/>
            <a:ext cx="12809846" cy="22999676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9240" y="10494037"/>
            <a:ext cx="12872933" cy="5142966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9240" y="15637004"/>
            <a:ext cx="12872933" cy="22999676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AD935-F2AD-416B-B02B-2E90B45F9487}" type="datetimeFigureOut">
              <a:rPr lang="zh-TW" altLang="en-US" smtClean="0"/>
              <a:t>2022/12/8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296F5-06D2-4953-972C-060A1EB5725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9083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AD935-F2AD-416B-B02B-2E90B45F9487}" type="datetimeFigureOut">
              <a:rPr lang="zh-TW" altLang="en-US" smtClean="0"/>
              <a:t>2022/12/8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296F5-06D2-4953-972C-060A1EB5725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2528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AD935-F2AD-416B-B02B-2E90B45F9487}" type="datetimeFigureOut">
              <a:rPr lang="zh-TW" altLang="en-US" smtClean="0"/>
              <a:t>2022/12/8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296F5-06D2-4953-972C-060A1EB5725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2331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692" y="2853901"/>
            <a:ext cx="9766080" cy="9988656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2933" y="6163645"/>
            <a:ext cx="15329238" cy="30421799"/>
          </a:xfrm>
        </p:spPr>
        <p:txBody>
          <a:bodyPr/>
          <a:lstStyle>
            <a:lvl1pPr>
              <a:defRPr sz="11338"/>
            </a:lvl1pPr>
            <a:lvl2pPr>
              <a:defRPr sz="9921"/>
            </a:lvl2pPr>
            <a:lvl3pPr>
              <a:defRPr sz="8504"/>
            </a:lvl3pPr>
            <a:lvl4pPr>
              <a:defRPr sz="7086"/>
            </a:lvl4pPr>
            <a:lvl5pPr>
              <a:defRPr sz="7086"/>
            </a:lvl5pPr>
            <a:lvl6pPr>
              <a:defRPr sz="7086"/>
            </a:lvl6pPr>
            <a:lvl7pPr>
              <a:defRPr sz="7086"/>
            </a:lvl7pPr>
            <a:lvl8pPr>
              <a:defRPr sz="7086"/>
            </a:lvl8pPr>
            <a:lvl9pPr>
              <a:defRPr sz="7086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692" y="12842557"/>
            <a:ext cx="9766080" cy="23792426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AD935-F2AD-416B-B02B-2E90B45F9487}" type="datetimeFigureOut">
              <a:rPr lang="zh-TW" altLang="en-US" smtClean="0"/>
              <a:t>2022/12/8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296F5-06D2-4953-972C-060A1EB5725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5853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692" y="2853901"/>
            <a:ext cx="9766080" cy="9988656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2933" y="6163645"/>
            <a:ext cx="15329238" cy="30421799"/>
          </a:xfrm>
        </p:spPr>
        <p:txBody>
          <a:bodyPr anchor="t"/>
          <a:lstStyle>
            <a:lvl1pPr marL="0" indent="0">
              <a:buNone/>
              <a:defRPr sz="11338"/>
            </a:lvl1pPr>
            <a:lvl2pPr marL="1619951" indent="0">
              <a:buNone/>
              <a:defRPr sz="9921"/>
            </a:lvl2pPr>
            <a:lvl3pPr marL="3239902" indent="0">
              <a:buNone/>
              <a:defRPr sz="8504"/>
            </a:lvl3pPr>
            <a:lvl4pPr marL="4859853" indent="0">
              <a:buNone/>
              <a:defRPr sz="7086"/>
            </a:lvl4pPr>
            <a:lvl5pPr marL="6479804" indent="0">
              <a:buNone/>
              <a:defRPr sz="7086"/>
            </a:lvl5pPr>
            <a:lvl6pPr marL="8099755" indent="0">
              <a:buNone/>
              <a:defRPr sz="7086"/>
            </a:lvl6pPr>
            <a:lvl7pPr marL="9719706" indent="0">
              <a:buNone/>
              <a:defRPr sz="7086"/>
            </a:lvl7pPr>
            <a:lvl8pPr marL="11339657" indent="0">
              <a:buNone/>
              <a:defRPr sz="7086"/>
            </a:lvl8pPr>
            <a:lvl9pPr marL="12959608" indent="0">
              <a:buNone/>
              <a:defRPr sz="7086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692" y="12842557"/>
            <a:ext cx="9766080" cy="23792426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AD935-F2AD-416B-B02B-2E90B45F9487}" type="datetimeFigureOut">
              <a:rPr lang="zh-TW" altLang="en-US" smtClean="0"/>
              <a:t>2022/12/8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296F5-06D2-4953-972C-060A1EB5725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9052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AD935-F2AD-416B-B02B-2E90B45F9487}" type="datetimeFigureOut">
              <a:rPr lang="zh-TW" altLang="en-US" smtClean="0"/>
              <a:t>2022/12/8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296F5-06D2-4953-972C-060A1EB5725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9230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9109" y="2279158"/>
            <a:ext cx="6529119" cy="36278246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750" y="2279158"/>
            <a:ext cx="19208859" cy="36278246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AD935-F2AD-416B-B02B-2E90B45F9487}" type="datetimeFigureOut">
              <a:rPr lang="zh-TW" altLang="en-US" smtClean="0"/>
              <a:t>2022/12/8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296F5-06D2-4953-972C-060A1EB5725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970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748" y="2279167"/>
            <a:ext cx="26116479" cy="82743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748" y="11395787"/>
            <a:ext cx="26116479" cy="271616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748" y="39677170"/>
            <a:ext cx="6812995" cy="22791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AD935-F2AD-416B-B02B-2E90B45F9487}" type="datetimeFigureOut">
              <a:rPr lang="zh-TW" altLang="en-US" smtClean="0"/>
              <a:t>2022/12/8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30242" y="39677170"/>
            <a:ext cx="10219492" cy="22791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5232" y="39677170"/>
            <a:ext cx="6812995" cy="22791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5296F5-06D2-4953-972C-060A1EB5725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1513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239902" rtl="0" eaLnBrk="1" latinLnBrk="0" hangingPunct="1">
        <a:lnSpc>
          <a:spcPct val="90000"/>
        </a:lnSpc>
        <a:spcBef>
          <a:spcPct val="0"/>
        </a:spcBef>
        <a:buNone/>
        <a:defRPr sz="155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9976" indent="-809976" algn="l" defTabSz="3239902" rtl="0" eaLnBrk="1" latinLnBrk="0" hangingPunct="1">
        <a:lnSpc>
          <a:spcPct val="90000"/>
        </a:lnSpc>
        <a:spcBef>
          <a:spcPts val="3543"/>
        </a:spcBef>
        <a:buFont typeface="Arial" panose="020B0604020202020204" pitchFamily="34" charset="0"/>
        <a:buChar char="•"/>
        <a:defRPr sz="9921" kern="1200">
          <a:solidFill>
            <a:schemeClr val="tx1"/>
          </a:solidFill>
          <a:latin typeface="+mn-lt"/>
          <a:ea typeface="+mn-ea"/>
          <a:cs typeface="+mn-cs"/>
        </a:defRPr>
      </a:lvl1pPr>
      <a:lvl2pPr marL="2429927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8504" kern="1200">
          <a:solidFill>
            <a:schemeClr val="tx1"/>
          </a:solidFill>
          <a:latin typeface="+mn-lt"/>
          <a:ea typeface="+mn-ea"/>
          <a:cs typeface="+mn-cs"/>
        </a:defRPr>
      </a:lvl2pPr>
      <a:lvl3pPr marL="4049878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7086" kern="1200">
          <a:solidFill>
            <a:schemeClr val="tx1"/>
          </a:solidFill>
          <a:latin typeface="+mn-lt"/>
          <a:ea typeface="+mn-ea"/>
          <a:cs typeface="+mn-cs"/>
        </a:defRPr>
      </a:lvl3pPr>
      <a:lvl4pPr marL="5669829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7289780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909731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10529682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2149633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3769584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1pPr>
      <a:lvl2pPr marL="1619951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2pPr>
      <a:lvl3pPr marL="3239902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3pPr>
      <a:lvl4pPr marL="4859853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6479804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099755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9719706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1339657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2959608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2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jpg"/><Relationship Id="rId2" Type="http://schemas.openxmlformats.org/officeDocument/2006/relationships/image" Target="../media/image1.png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jp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jpg"/><Relationship Id="rId28" Type="http://schemas.openxmlformats.org/officeDocument/2006/relationships/image" Target="../media/image26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microsoft.com/office/2007/relationships/hdphoto" Target="../media/hdphoto1.wdp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A1EE66C1-EBAB-625D-0711-A8D93DD9012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/>
          <a:srcRect b="20463"/>
          <a:stretch/>
        </p:blipFill>
        <p:spPr>
          <a:xfrm rot="16200000">
            <a:off x="-6495160" y="6492888"/>
            <a:ext cx="43270294" cy="30279975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FCA2DD7E-E75D-4B7E-1897-6CC91F3AFF65}"/>
              </a:ext>
            </a:extLst>
          </p:cNvPr>
          <p:cNvPicPr>
            <a:picLocks/>
          </p:cNvPicPr>
          <p:nvPr/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7000"/>
                    </a14:imgEffect>
                    <a14:imgEffect>
                      <a14:colorTemperature colorTemp="88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 rot="5400000">
            <a:off x="-7305946" y="5506739"/>
            <a:ext cx="43268024" cy="31900779"/>
          </a:xfrm>
          <a:prstGeom prst="rect">
            <a:avLst/>
          </a:prstGeom>
        </p:spPr>
      </p:pic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26767F92-C699-B3BA-AFCD-14BC4C44079B}"/>
              </a:ext>
            </a:extLst>
          </p:cNvPr>
          <p:cNvSpPr/>
          <p:nvPr/>
        </p:nvSpPr>
        <p:spPr>
          <a:xfrm>
            <a:off x="1254497" y="363862"/>
            <a:ext cx="28071332" cy="2531706"/>
          </a:xfrm>
          <a:prstGeom prst="roundRect">
            <a:avLst/>
          </a:prstGeom>
          <a:solidFill>
            <a:srgbClr val="FDFD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highlight>
                <a:srgbClr val="FDFDCD"/>
              </a:highlight>
            </a:endParaRP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7C91E6E6-7BC5-CB17-DA94-5D636CC8AE5C}"/>
              </a:ext>
            </a:extLst>
          </p:cNvPr>
          <p:cNvSpPr/>
          <p:nvPr/>
        </p:nvSpPr>
        <p:spPr>
          <a:xfrm>
            <a:off x="924899" y="39943409"/>
            <a:ext cx="14160152" cy="2517234"/>
          </a:xfrm>
          <a:prstGeom prst="roundRect">
            <a:avLst>
              <a:gd name="adj" fmla="val 8401"/>
            </a:avLst>
          </a:prstGeom>
          <a:solidFill>
            <a:srgbClr val="FCFE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AC4B034D-F844-C5DF-55DC-C90C99B4F5FE}"/>
              </a:ext>
            </a:extLst>
          </p:cNvPr>
          <p:cNvSpPr/>
          <p:nvPr/>
        </p:nvSpPr>
        <p:spPr>
          <a:xfrm>
            <a:off x="1051818" y="36720471"/>
            <a:ext cx="28176339" cy="2517233"/>
          </a:xfrm>
          <a:prstGeom prst="roundRect">
            <a:avLst>
              <a:gd name="adj" fmla="val 8401"/>
            </a:avLst>
          </a:prstGeom>
          <a:solidFill>
            <a:srgbClr val="FCFE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E9EC078B-04A2-C0F0-D2DB-7E3718690E36}"/>
              </a:ext>
            </a:extLst>
          </p:cNvPr>
          <p:cNvSpPr/>
          <p:nvPr/>
        </p:nvSpPr>
        <p:spPr>
          <a:xfrm>
            <a:off x="1003275" y="10686840"/>
            <a:ext cx="28322554" cy="15659491"/>
          </a:xfrm>
          <a:prstGeom prst="roundRect">
            <a:avLst>
              <a:gd name="adj" fmla="val 3313"/>
            </a:avLst>
          </a:prstGeom>
          <a:solidFill>
            <a:srgbClr val="FCFE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90480F6B-A23B-A20C-6A49-4D9FDFFED84A}"/>
              </a:ext>
            </a:extLst>
          </p:cNvPr>
          <p:cNvSpPr/>
          <p:nvPr/>
        </p:nvSpPr>
        <p:spPr>
          <a:xfrm>
            <a:off x="1003274" y="5117064"/>
            <a:ext cx="28322555" cy="4646332"/>
          </a:xfrm>
          <a:prstGeom prst="roundRect">
            <a:avLst>
              <a:gd name="adj" fmla="val 8401"/>
            </a:avLst>
          </a:prstGeom>
          <a:solidFill>
            <a:srgbClr val="FCFE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標題 8">
            <a:extLst>
              <a:ext uri="{FF2B5EF4-FFF2-40B4-BE49-F238E27FC236}">
                <a16:creationId xmlns:a16="http://schemas.microsoft.com/office/drawing/2014/main" id="{453C411E-1A60-D736-E062-BE29DC4C33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3814" y="750003"/>
            <a:ext cx="24836680" cy="2577865"/>
          </a:xfrm>
        </p:spPr>
        <p:txBody>
          <a:bodyPr>
            <a:no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br>
              <a:rPr lang="en-US" altLang="zh-TW" sz="4500" b="1" i="0" u="none" strike="noStrike" dirty="0">
                <a:solidFill>
                  <a:srgbClr val="000000"/>
                </a:solidFill>
                <a:effectLst/>
                <a:latin typeface="DFKai-SB" panose="03000509000000000000" pitchFamily="65" charset="-120"/>
                <a:ea typeface="DFKai-SB" panose="03000509000000000000" pitchFamily="65" charset="-120"/>
              </a:rPr>
            </a:br>
            <a:br>
              <a:rPr lang="en-US" altLang="zh-TW" sz="4500" b="1" i="0" u="none" strike="noStrike" dirty="0">
                <a:solidFill>
                  <a:srgbClr val="000000"/>
                </a:solidFill>
                <a:effectLst/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zh-TW" altLang="en-US" sz="5000" b="1" i="0" u="none" strike="noStrike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使用 </a:t>
            </a:r>
            <a:r>
              <a:rPr lang="en-US" altLang="zh-TW" sz="5000" b="1" i="0" u="none" strike="noStrike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LSTM</a:t>
            </a:r>
            <a:r>
              <a:rPr lang="zh-TW" altLang="en-US" sz="5000" b="1" i="0" u="none" strike="noStrike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循環神經網絡與</a:t>
            </a:r>
            <a:r>
              <a:rPr lang="en-US" altLang="zh-TW" sz="5000" b="1" i="0" u="none" strike="noStrike" dirty="0" err="1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OpenVINO</a:t>
            </a:r>
            <a:r>
              <a:rPr lang="zh-TW" altLang="en-US" sz="5000" b="1" i="0" u="none" strike="noStrike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優化預測繞射圖案產生的振動模式</a:t>
            </a:r>
            <a:br>
              <a:rPr lang="zh-TW" altLang="en-US" sz="4500" b="1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4500" b="1" i="0" u="none" strike="noStrike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Using LSTM and </a:t>
            </a:r>
            <a:r>
              <a:rPr lang="en-US" altLang="zh-TW" sz="4500" b="1" i="0" u="none" strike="noStrike" dirty="0" err="1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OpenVINO</a:t>
            </a:r>
            <a:r>
              <a:rPr lang="en-US" altLang="zh-TW" sz="4500" b="1" i="0" u="none" strike="noStrike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recurrent neural networks to predict vibration modes generated by the diffraction pattern</a:t>
            </a:r>
            <a:br>
              <a:rPr lang="en-US" altLang="zh-TW" sz="45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endParaRPr lang="zh-TW" altLang="en-US" sz="4500" b="1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副標題 2">
            <a:extLst>
              <a:ext uri="{FF2B5EF4-FFF2-40B4-BE49-F238E27FC236}">
                <a16:creationId xmlns:a16="http://schemas.microsoft.com/office/drawing/2014/main" id="{3BA0DDF2-7430-E1A4-138D-A97D778517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65228" y="3126520"/>
            <a:ext cx="21600319" cy="1670998"/>
          </a:xfrm>
        </p:spPr>
        <p:txBody>
          <a:bodyPr>
            <a:noAutofit/>
          </a:bodyPr>
          <a:lstStyle/>
          <a:p>
            <a: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呂宸昕</a:t>
            </a:r>
            <a:r>
              <a:rPr lang="en-US" altLang="zh-TW" sz="3600" b="1" i="0" u="none" strike="noStrike" baseline="30000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zh-TW" altLang="en-US" sz="36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、林哲賢</a:t>
            </a:r>
            <a:r>
              <a:rPr lang="en-US" altLang="zh-TW" sz="3600" b="1" i="0" u="none" strike="noStrike" baseline="30000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zh-TW" altLang="en-US" sz="36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、洪筱筑</a:t>
            </a:r>
            <a:r>
              <a:rPr lang="en-US" altLang="zh-TW" sz="3600" b="1" i="0" u="none" strike="noStrike" baseline="30000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zh-TW" altLang="en-US" sz="36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、施柏豪</a:t>
            </a:r>
            <a:r>
              <a:rPr lang="en-US" altLang="zh-TW" sz="3600" b="1" i="0" u="none" strike="noStrike" baseline="30000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</a:t>
            </a:r>
            <a:r>
              <a:rPr lang="zh-TW" altLang="en-US" sz="36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、李柏翰</a:t>
            </a:r>
            <a:r>
              <a:rPr lang="en-US" altLang="zh-TW" sz="3600" b="1" i="0" u="none" strike="noStrike" baseline="30000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1,</a:t>
            </a:r>
            <a:r>
              <a:rPr lang="zh-TW" altLang="en-US" sz="36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*</a:t>
            </a:r>
            <a:endParaRPr lang="zh-TW" altLang="en-US" sz="3600" b="1" dirty="0">
              <a:solidFill>
                <a:srgbClr val="0000FF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3600" b="1" i="0" u="none" strike="noStrike" baseline="30000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zh-TW" altLang="en-US" sz="36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國立臺灣師範大學附屬高級中學，</a:t>
            </a:r>
            <a:r>
              <a:rPr lang="en-US" altLang="zh-TW" sz="3600" b="1" i="0" u="none" strike="noStrike" baseline="30000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zh-TW" altLang="en-US" sz="36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臺北市私立復興高中，</a:t>
            </a:r>
            <a:r>
              <a:rPr lang="en-US" altLang="zh-TW" sz="3600" b="1" i="0" u="none" strike="noStrike" baseline="30000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</a:t>
            </a:r>
            <a:r>
              <a:rPr lang="zh-TW" altLang="en-US" sz="36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臺北市西松高中</a:t>
            </a:r>
            <a:endParaRPr lang="zh-TW" altLang="en-US" sz="3600" b="1" dirty="0">
              <a:solidFill>
                <a:srgbClr val="0000FF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36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 *通訊作者</a:t>
            </a:r>
            <a:r>
              <a:rPr lang="en-US" altLang="zh-TW" sz="36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email</a:t>
            </a:r>
            <a:r>
              <a:rPr lang="zh-TW" altLang="en-US" sz="36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</a:t>
            </a:r>
            <a:r>
              <a:rPr lang="en-US" altLang="zh-TW" sz="3600" b="1" i="0" u="none" strike="noStrike" dirty="0" err="1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leepohan@gmail.com</a:t>
            </a:r>
            <a:endParaRPr lang="en-US" sz="3100" b="1" dirty="0">
              <a:solidFill>
                <a:srgbClr val="0000FF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2" name="剪去對角線角落矩形 13">
            <a:extLst>
              <a:ext uri="{FF2B5EF4-FFF2-40B4-BE49-F238E27FC236}">
                <a16:creationId xmlns:a16="http://schemas.microsoft.com/office/drawing/2014/main" id="{7694C9C8-1668-0ECD-4628-D8CB607FFD9A}"/>
              </a:ext>
            </a:extLst>
          </p:cNvPr>
          <p:cNvSpPr/>
          <p:nvPr/>
        </p:nvSpPr>
        <p:spPr>
          <a:xfrm>
            <a:off x="1290058" y="4291331"/>
            <a:ext cx="4400924" cy="778850"/>
          </a:xfrm>
          <a:prstGeom prst="snip2DiagRect">
            <a:avLst>
              <a:gd name="adj1" fmla="val 0"/>
              <a:gd name="adj2" fmla="val 40154"/>
            </a:avLst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4400" b="1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摘要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82948B38-8401-E81E-DD4A-187548170BB1}"/>
              </a:ext>
            </a:extLst>
          </p:cNvPr>
          <p:cNvSpPr txBox="1"/>
          <p:nvPr/>
        </p:nvSpPr>
        <p:spPr>
          <a:xfrm>
            <a:off x="1446942" y="5430066"/>
            <a:ext cx="2717065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5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      </a:t>
            </a:r>
            <a:r>
              <a:rPr lang="zh-TW" altLang="en-US" sz="36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本次我們研究了使用</a:t>
            </a:r>
            <a:r>
              <a:rPr lang="zh-TW" altLang="en-US" sz="3600" b="1" i="0" u="none" strike="noStrike" dirty="0">
                <a:solidFill>
                  <a:srgbClr val="FF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長短期記憶 </a:t>
            </a:r>
            <a:r>
              <a:rPr lang="en-US" altLang="zh-TW" sz="3600" b="1" i="0" u="none" strike="noStrike" dirty="0">
                <a:solidFill>
                  <a:srgbClr val="FF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(LSTM) </a:t>
            </a:r>
            <a:r>
              <a:rPr lang="zh-TW" altLang="en-US" sz="3600" b="1" i="0" u="none" strike="noStrike" dirty="0">
                <a:solidFill>
                  <a:srgbClr val="FF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與 </a:t>
            </a:r>
            <a:r>
              <a:rPr lang="en-US" altLang="zh-TW" sz="3600" b="1" i="0" u="none" strike="noStrike" dirty="0">
                <a:solidFill>
                  <a:srgbClr val="FF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(RNN) </a:t>
            </a:r>
            <a:r>
              <a:rPr lang="zh-TW" altLang="en-US" sz="36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構建遞迴神經網絡，經過</a:t>
            </a:r>
            <a:r>
              <a:rPr lang="en-US" altLang="zh-TW" sz="3600" b="1" i="0" u="none" strike="noStrike" dirty="0" err="1">
                <a:solidFill>
                  <a:srgbClr val="FF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OpenVINO</a:t>
            </a:r>
            <a:r>
              <a:rPr lang="zh-TW" altLang="en-US" sz="3600" b="1" i="0" u="none" strike="noStrike" dirty="0">
                <a:solidFill>
                  <a:srgbClr val="FF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優化</a:t>
            </a:r>
            <a:r>
              <a:rPr lang="zh-TW" altLang="en-US" sz="36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來進行神經網</a:t>
            </a:r>
            <a:r>
              <a:rPr lang="zh-TW" altLang="en-US" sz="36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路</a:t>
            </a:r>
            <a:r>
              <a:rPr lang="zh-TW" altLang="en-US" sz="36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預測光學台上的手寫行為產生的振動模式，其中振動模式通過利用</a:t>
            </a:r>
            <a:r>
              <a:rPr lang="zh-TW" altLang="en-US" sz="3600" b="1" i="0" u="none" strike="noStrike" dirty="0">
                <a:solidFill>
                  <a:srgbClr val="FF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邁克森干涉儀</a:t>
            </a:r>
            <a:r>
              <a:rPr lang="zh-TW" altLang="en-US" sz="36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的繞射圖案來做檢測。當手寫動作發生時，會同時用攝影機記錄各種振動繞射模式時序振動圖，其中數據圖像的處理基於</a:t>
            </a:r>
            <a:r>
              <a:rPr lang="en-US" altLang="zh-TW" sz="36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OpenCV</a:t>
            </a:r>
            <a:r>
              <a:rPr lang="zh-TW" altLang="en-US" sz="36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的方法，將圖像轉換為灰階值並濾除噪聲，為了檢測振動，將灰階值記錄在一維陣列中以反應像素灰階值的變化，</a:t>
            </a:r>
            <a:r>
              <a:rPr lang="zh-TW" altLang="en-US" sz="36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同時</a:t>
            </a:r>
            <a:r>
              <a:rPr lang="zh-TW" altLang="en-US" sz="36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也有進行整段影片輸入學習，我們使用 </a:t>
            </a:r>
            <a:r>
              <a:rPr lang="en-US" altLang="zh-TW" sz="36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LSTM </a:t>
            </a:r>
            <a:r>
              <a:rPr lang="zh-TW" altLang="en-US" sz="36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和 </a:t>
            </a:r>
            <a:r>
              <a:rPr lang="en-US" altLang="zh-TW" sz="36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RNN </a:t>
            </a:r>
            <a:r>
              <a:rPr lang="zh-TW" altLang="en-US" sz="36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來識別</a:t>
            </a:r>
            <a:r>
              <a:rPr lang="zh-TW" altLang="en-US" sz="3600" b="1" i="0" u="none" strike="noStrike" dirty="0">
                <a:solidFill>
                  <a:srgbClr val="FF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振動模式影片</a:t>
            </a:r>
            <a:r>
              <a:rPr lang="zh-TW" altLang="en-US" sz="36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的訊號，並使用 </a:t>
            </a:r>
            <a:r>
              <a:rPr lang="en-US" altLang="zh-TW" sz="3600" b="1" i="0" u="none" strike="noStrike" dirty="0" err="1">
                <a:solidFill>
                  <a:srgbClr val="FF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Tensorflow</a:t>
            </a:r>
            <a:r>
              <a:rPr lang="en-US" altLang="zh-TW" sz="3600" b="1" i="0" u="none" strike="noStrike" dirty="0">
                <a:solidFill>
                  <a:srgbClr val="FF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altLang="zh-TW" sz="3600" b="1" i="0" u="none" strike="noStrike" dirty="0" err="1">
                <a:solidFill>
                  <a:srgbClr val="FF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keras</a:t>
            </a:r>
            <a:r>
              <a:rPr lang="en-US" altLang="zh-TW" sz="3600" b="1" i="0" u="none" strike="noStrike" dirty="0">
                <a:solidFill>
                  <a:srgbClr val="FF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zh-TW" altLang="en-US" sz="36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構建模型，以及使用</a:t>
            </a:r>
            <a:r>
              <a:rPr lang="en-US" altLang="zh-TW" sz="36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Intel </a:t>
            </a:r>
            <a:r>
              <a:rPr lang="en-US" altLang="zh-TW" sz="3600" b="1" i="0" u="none" strike="noStrike" dirty="0" err="1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OpenVINO</a:t>
            </a:r>
            <a:r>
              <a:rPr lang="zh-TW" altLang="en-US" sz="36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優化。經過</a:t>
            </a:r>
            <a:r>
              <a:rPr lang="zh-TW" altLang="en-US" sz="3600" b="1" i="0" u="none" strike="noStrike" dirty="0">
                <a:solidFill>
                  <a:srgbClr val="FF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訓練與優化</a:t>
            </a:r>
            <a:r>
              <a:rPr lang="zh-TW" altLang="en-US" sz="36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，我們成功地預測了因</a:t>
            </a:r>
            <a:r>
              <a:rPr lang="zh-TW" altLang="en-US" sz="3600" b="1" i="0" u="none" strike="noStrike" dirty="0">
                <a:solidFill>
                  <a:srgbClr val="FF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字母筆跡行為</a:t>
            </a:r>
            <a:r>
              <a:rPr lang="zh-TW" altLang="en-US" sz="36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而</a:t>
            </a:r>
            <a:r>
              <a:rPr lang="zh-TW" altLang="en-US" sz="36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產生波紋繞射振動的模式，有些字母準確率達到了</a:t>
            </a:r>
            <a:r>
              <a:rPr lang="en-US" altLang="zh-TW" sz="3600" b="1" i="0" u="none" strike="noStrike" dirty="0">
                <a:solidFill>
                  <a:srgbClr val="FF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90 %</a:t>
            </a:r>
            <a:r>
              <a:rPr lang="zh-TW" altLang="en-US" sz="36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以上。這項工作為預測各種振動模式提供了辨識學習的可能性，也使我們在未來有機會能夠深入了解</a:t>
            </a:r>
            <a:r>
              <a:rPr lang="zh-TW" altLang="en-US" sz="36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不同</a:t>
            </a:r>
            <a:r>
              <a:rPr lang="zh-TW" altLang="en-US" sz="36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材料所產生的振動模式解讀之科學領域探索</a:t>
            </a:r>
            <a:r>
              <a:rPr lang="zh-TW" altLang="en-US" sz="3600" b="1" i="0" u="none" strike="noStrike" dirty="0">
                <a:solidFill>
                  <a:srgbClr val="00206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。</a:t>
            </a:r>
            <a:endParaRPr lang="en-US" sz="3600" b="1" dirty="0">
              <a:solidFill>
                <a:srgbClr val="00206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4" name="剪去對角線角落矩形 13">
            <a:extLst>
              <a:ext uri="{FF2B5EF4-FFF2-40B4-BE49-F238E27FC236}">
                <a16:creationId xmlns:a16="http://schemas.microsoft.com/office/drawing/2014/main" id="{24B2D3B4-FC3D-A671-A35F-58FF7CF16722}"/>
              </a:ext>
            </a:extLst>
          </p:cNvPr>
          <p:cNvSpPr/>
          <p:nvPr/>
        </p:nvSpPr>
        <p:spPr>
          <a:xfrm>
            <a:off x="1166174" y="9994348"/>
            <a:ext cx="4400924" cy="778850"/>
          </a:xfrm>
          <a:prstGeom prst="snip2DiagRect">
            <a:avLst>
              <a:gd name="adj1" fmla="val 0"/>
              <a:gd name="adj2" fmla="val 40154"/>
            </a:avLst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4400" b="1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研究過程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5C80D701-8F84-40BD-1C09-27146570C638}"/>
              </a:ext>
            </a:extLst>
          </p:cNvPr>
          <p:cNvSpPr txBox="1"/>
          <p:nvPr/>
        </p:nvSpPr>
        <p:spPr>
          <a:xfrm>
            <a:off x="1370194" y="11119140"/>
            <a:ext cx="68894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1.</a:t>
            </a:r>
            <a:r>
              <a:rPr lang="zh-TW" altLang="en-US" sz="32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獲取資料集</a:t>
            </a:r>
            <a:r>
              <a:rPr lang="en-US" altLang="zh-TW" sz="32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:</a:t>
            </a:r>
            <a:r>
              <a:rPr lang="zh-TW" altLang="en-US" sz="32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zh-TW" altLang="en-US" sz="3200" b="1" i="0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邁克生干涉儀雷射光</a:t>
            </a:r>
            <a:r>
              <a:rPr lang="en-US" altLang="zh-TW" sz="31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	</a:t>
            </a:r>
            <a:endParaRPr lang="en-US" sz="3100" b="1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484DF364-EF56-5B37-B877-52E22C8FF95F}"/>
              </a:ext>
            </a:extLst>
          </p:cNvPr>
          <p:cNvSpPr txBox="1"/>
          <p:nvPr/>
        </p:nvSpPr>
        <p:spPr>
          <a:xfrm>
            <a:off x="1427394" y="15684526"/>
            <a:ext cx="13008880" cy="3431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1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2.</a:t>
            </a:r>
            <a:r>
              <a:rPr lang="zh-TW" altLang="en-US" sz="31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資料預處理</a:t>
            </a:r>
            <a:r>
              <a:rPr lang="en-US" altLang="zh-TW" sz="31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:</a:t>
            </a:r>
          </a:p>
          <a:p>
            <a:r>
              <a:rPr lang="en-US" altLang="zh-TW" sz="31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	(1)</a:t>
            </a:r>
            <a:r>
              <a:rPr lang="zh-TW" altLang="en-US" sz="31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影片裁為等長，</a:t>
            </a:r>
            <a:r>
              <a:rPr lang="en-US" altLang="zh-TW" sz="31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	(2)</a:t>
            </a:r>
            <a:r>
              <a:rPr lang="zh-TW" altLang="en-US" sz="31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將影片以字母為單位拆分，並統一更改長度為</a:t>
            </a:r>
            <a:r>
              <a:rPr lang="en-US" altLang="zh-TW" sz="31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zh-TW" altLang="en-US" sz="31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秒鐘</a:t>
            </a:r>
            <a:r>
              <a:rPr lang="zh-TW" altLang="en-US" sz="31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</a:t>
            </a:r>
            <a:r>
              <a:rPr lang="zh-TW" altLang="en-US" sz="31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以</a:t>
            </a:r>
            <a:r>
              <a:rPr lang="en-US" altLang="zh-TW" sz="31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OpenCV</a:t>
            </a:r>
            <a:r>
              <a:rPr lang="zh-TW" altLang="en-US" sz="31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將其 </a:t>
            </a:r>
            <a:r>
              <a:rPr lang="en-US" altLang="zh-TW" sz="31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resize</a:t>
            </a:r>
            <a:r>
              <a:rPr lang="zh-TW" altLang="en-US" sz="31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成原比例</a:t>
            </a:r>
            <a:r>
              <a:rPr lang="en-US" altLang="zh-TW" sz="31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0.3</a:t>
            </a:r>
            <a:r>
              <a:rPr lang="zh-TW" altLang="en-US" sz="31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以及轉為灰階，並以工具去除雷射區塊以外之不必要的部分。</a:t>
            </a:r>
            <a:endParaRPr lang="en-US" altLang="zh-TW" sz="3100" b="1" i="0" u="none" strike="noStrike" dirty="0">
              <a:solidFill>
                <a:srgbClr val="0000FF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en-US" altLang="zh-TW" sz="3100" b="1" dirty="0">
                <a:solidFill>
                  <a:srgbClr val="00206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	</a:t>
            </a:r>
            <a:br>
              <a:rPr lang="zh-TW" altLang="en-US" sz="3100" b="1" dirty="0">
                <a:solidFill>
                  <a:srgbClr val="00206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endParaRPr lang="en-US" altLang="zh-TW" sz="3100" b="1" dirty="0">
              <a:solidFill>
                <a:srgbClr val="00206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endParaRPr lang="en-US" altLang="zh-TW" sz="3100" b="1" dirty="0">
              <a:solidFill>
                <a:srgbClr val="00206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7" name="剪去對角線角落矩形 13">
            <a:extLst>
              <a:ext uri="{FF2B5EF4-FFF2-40B4-BE49-F238E27FC236}">
                <a16:creationId xmlns:a16="http://schemas.microsoft.com/office/drawing/2014/main" id="{61626441-5427-FB74-4FB8-F8EFA2A582DE}"/>
              </a:ext>
            </a:extLst>
          </p:cNvPr>
          <p:cNvSpPr/>
          <p:nvPr/>
        </p:nvSpPr>
        <p:spPr>
          <a:xfrm>
            <a:off x="1446942" y="26609212"/>
            <a:ext cx="4400924" cy="778850"/>
          </a:xfrm>
          <a:prstGeom prst="snip2DiagRect">
            <a:avLst>
              <a:gd name="adj1" fmla="val 0"/>
              <a:gd name="adj2" fmla="val 40154"/>
            </a:avLst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4400" b="1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研究結果</a:t>
            </a:r>
          </a:p>
        </p:txBody>
      </p:sp>
      <p:sp>
        <p:nvSpPr>
          <p:cNvPr id="28" name="剪去對角線角落矩形 13">
            <a:extLst>
              <a:ext uri="{FF2B5EF4-FFF2-40B4-BE49-F238E27FC236}">
                <a16:creationId xmlns:a16="http://schemas.microsoft.com/office/drawing/2014/main" id="{B4D53FA3-82F2-D97D-DB78-49878F2EC432}"/>
              </a:ext>
            </a:extLst>
          </p:cNvPr>
          <p:cNvSpPr/>
          <p:nvPr/>
        </p:nvSpPr>
        <p:spPr>
          <a:xfrm>
            <a:off x="1278929" y="36147542"/>
            <a:ext cx="4400924" cy="778850"/>
          </a:xfrm>
          <a:prstGeom prst="snip2DiagRect">
            <a:avLst>
              <a:gd name="adj1" fmla="val 0"/>
              <a:gd name="adj2" fmla="val 40154"/>
            </a:avLst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4400" b="1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結論與展望</a:t>
            </a:r>
          </a:p>
        </p:txBody>
      </p:sp>
      <p:sp>
        <p:nvSpPr>
          <p:cNvPr id="29" name="剪去對角線角落矩形 13">
            <a:extLst>
              <a:ext uri="{FF2B5EF4-FFF2-40B4-BE49-F238E27FC236}">
                <a16:creationId xmlns:a16="http://schemas.microsoft.com/office/drawing/2014/main" id="{618179EF-12E8-C008-54E0-8BF11AAA9CEC}"/>
              </a:ext>
            </a:extLst>
          </p:cNvPr>
          <p:cNvSpPr/>
          <p:nvPr/>
        </p:nvSpPr>
        <p:spPr>
          <a:xfrm>
            <a:off x="1051818" y="39312726"/>
            <a:ext cx="4400924" cy="778850"/>
          </a:xfrm>
          <a:prstGeom prst="snip2DiagRect">
            <a:avLst>
              <a:gd name="adj1" fmla="val 0"/>
              <a:gd name="adj2" fmla="val 40154"/>
            </a:avLst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4400" b="1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參考資料</a:t>
            </a:r>
          </a:p>
        </p:txBody>
      </p:sp>
      <p:pic>
        <p:nvPicPr>
          <p:cNvPr id="32" name="Picture 10" descr="開啟相片">
            <a:extLst>
              <a:ext uri="{FF2B5EF4-FFF2-40B4-BE49-F238E27FC236}">
                <a16:creationId xmlns:a16="http://schemas.microsoft.com/office/drawing/2014/main" id="{4D8B8037-FA13-BA59-18A3-EF68FFEAF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116" y="31492204"/>
            <a:ext cx="5673579" cy="3606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4">
            <a:extLst>
              <a:ext uri="{FF2B5EF4-FFF2-40B4-BE49-F238E27FC236}">
                <a16:creationId xmlns:a16="http://schemas.microsoft.com/office/drawing/2014/main" id="{672257FA-ECD7-7BDD-F1A9-7F852622F5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7359" y="22496889"/>
            <a:ext cx="5974080" cy="298704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6">
            <a:extLst>
              <a:ext uri="{FF2B5EF4-FFF2-40B4-BE49-F238E27FC236}">
                <a16:creationId xmlns:a16="http://schemas.microsoft.com/office/drawing/2014/main" id="{F516CAB9-BC7F-FF2E-0641-05481E5012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4056" y="22599452"/>
            <a:ext cx="5974080" cy="298704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8">
            <a:extLst>
              <a:ext uri="{FF2B5EF4-FFF2-40B4-BE49-F238E27FC236}">
                <a16:creationId xmlns:a16="http://schemas.microsoft.com/office/drawing/2014/main" id="{80649F14-A290-CE7D-BDE9-2B576C03B3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3427" y="10619409"/>
            <a:ext cx="5323077" cy="428968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4">
            <a:extLst>
              <a:ext uri="{FF2B5EF4-FFF2-40B4-BE49-F238E27FC236}">
                <a16:creationId xmlns:a16="http://schemas.microsoft.com/office/drawing/2014/main" id="{CB6540E4-02F5-641C-134E-A5BC7BB84E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345" t="16736" r="18815" b="60601"/>
          <a:stretch/>
        </p:blipFill>
        <p:spPr bwMode="auto">
          <a:xfrm>
            <a:off x="1755550" y="17765067"/>
            <a:ext cx="3080836" cy="283768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文字方塊 37">
            <a:extLst>
              <a:ext uri="{FF2B5EF4-FFF2-40B4-BE49-F238E27FC236}">
                <a16:creationId xmlns:a16="http://schemas.microsoft.com/office/drawing/2014/main" id="{86E59297-4ADA-DB06-FB50-FE87681D2AE8}"/>
              </a:ext>
            </a:extLst>
          </p:cNvPr>
          <p:cNvSpPr txBox="1"/>
          <p:nvPr/>
        </p:nvSpPr>
        <p:spPr>
          <a:xfrm>
            <a:off x="1718187" y="21557162"/>
            <a:ext cx="117215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lang="en-US" altLang="zh-TW" sz="30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</a:t>
            </a:r>
            <a:r>
              <a:rPr lang="en-US" altLang="zh-TW" sz="30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r>
              <a:rPr lang="zh-TW" altLang="en-US" sz="30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取每幀的</a:t>
            </a:r>
            <a:r>
              <a:rPr lang="en-US" altLang="zh-TW" sz="30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pixel</a:t>
            </a:r>
            <a:r>
              <a:rPr lang="zh-TW" altLang="en-US" sz="30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值</a:t>
            </a:r>
            <a:r>
              <a:rPr lang="en-US" altLang="zh-TW" sz="30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,</a:t>
            </a:r>
            <a:r>
              <a:rPr lang="zh-TW" altLang="en-US" sz="30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紀錄成一維陣列，所有的一維陣列進行排序行成二維度的資料，表示雷射波動隨時間的變化情況</a:t>
            </a:r>
            <a:endParaRPr lang="zh-TW" altLang="en-US" sz="3000" b="1" dirty="0">
              <a:solidFill>
                <a:srgbClr val="0000FF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en-US" altLang="zh-TW" sz="3000" b="1" dirty="0">
                <a:solidFill>
                  <a:srgbClr val="00206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	</a:t>
            </a:r>
            <a:endParaRPr lang="zh-TW" altLang="en-US" sz="3000" dirty="0">
              <a:solidFill>
                <a:srgbClr val="002060"/>
              </a:solidFill>
            </a:endParaRPr>
          </a:p>
        </p:txBody>
      </p:sp>
      <p:pic>
        <p:nvPicPr>
          <p:cNvPr id="68" name="Picture 30" descr="卷積神經網路(Convolutional neural network, CNN) — CNN運算流程| by Tommy Huang | Medium">
            <a:extLst>
              <a:ext uri="{FF2B5EF4-FFF2-40B4-BE49-F238E27FC236}">
                <a16:creationId xmlns:a16="http://schemas.microsoft.com/office/drawing/2014/main" id="{6D036108-CF68-B515-4590-11031E808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70" y="17992182"/>
            <a:ext cx="4352433" cy="2263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文字方塊 68">
            <a:extLst>
              <a:ext uri="{FF2B5EF4-FFF2-40B4-BE49-F238E27FC236}">
                <a16:creationId xmlns:a16="http://schemas.microsoft.com/office/drawing/2014/main" id="{7CEBFADF-E7B5-0F8D-3121-7038D27D33BC}"/>
              </a:ext>
            </a:extLst>
          </p:cNvPr>
          <p:cNvSpPr txBox="1"/>
          <p:nvPr/>
        </p:nvSpPr>
        <p:spPr>
          <a:xfrm>
            <a:off x="1051818" y="37060966"/>
            <a:ext cx="2817633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04800" marR="304800" algn="just">
              <a:spcAft>
                <a:spcPts val="0"/>
              </a:spcAft>
            </a:pPr>
            <a:r>
              <a:rPr lang="en-US" altLang="zh-TW" sz="3200" b="1" kern="100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		</a:t>
            </a:r>
            <a:r>
              <a:rPr lang="zh-TW" altLang="zh-TW" sz="3200" b="1" kern="100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測試了</a:t>
            </a:r>
            <a:r>
              <a:rPr lang="en-US" altLang="zh-TW" sz="3200" b="1" kern="1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ConvLSTM2D</a:t>
            </a:r>
            <a:r>
              <a:rPr lang="zh-TW" altLang="zh-TW" sz="3200" b="1" kern="100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模型後，發現模型</a:t>
            </a:r>
            <a:r>
              <a:rPr lang="zh-TW" altLang="zh-TW" sz="3200" b="1" kern="1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太小時</a:t>
            </a:r>
            <a:r>
              <a:rPr lang="en-US" altLang="zh-TW" sz="3200" b="1" kern="1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loss</a:t>
            </a:r>
            <a:r>
              <a:rPr lang="zh-TW" altLang="zh-TW" sz="3200" b="1" kern="1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無法收斂</a:t>
            </a:r>
            <a:r>
              <a:rPr lang="zh-TW" altLang="zh-TW" sz="3200" b="1" kern="100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的很好，過大也有同樣的狀況</a:t>
            </a:r>
            <a:r>
              <a:rPr lang="zh-TW" altLang="en-US" sz="3200" b="1" kern="1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，而改用</a:t>
            </a:r>
            <a:r>
              <a:rPr lang="en-US" altLang="zh-TW" sz="3200" b="1" kern="2600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LRCN</a:t>
            </a:r>
            <a:r>
              <a:rPr lang="zh-TW" altLang="zh-TW" sz="3200" b="1" kern="2600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模型</a:t>
            </a:r>
            <a:r>
              <a:rPr lang="zh-TW" altLang="zh-TW" sz="3200" b="1" kern="100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基於</a:t>
            </a:r>
            <a:r>
              <a:rPr lang="en-US" altLang="zh-TW" sz="3200" b="1" kern="1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CNN+LSTM</a:t>
            </a:r>
            <a:r>
              <a:rPr lang="zh-TW" altLang="zh-TW" sz="3200" b="1" kern="100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，改良模型的建立順序以及</a:t>
            </a:r>
            <a:r>
              <a:rPr lang="en-US" altLang="zh-TW" sz="3200" b="1" kern="100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LSTM</a:t>
            </a:r>
            <a:r>
              <a:rPr lang="zh-TW" altLang="zh-TW" sz="3200" b="1" kern="100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的加入方法</a:t>
            </a:r>
            <a:r>
              <a:rPr lang="zh-TW" altLang="zh-TW" sz="3200" b="1" kern="1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，我們同樣</a:t>
            </a:r>
            <a:r>
              <a:rPr lang="zh-TW" altLang="en-US" sz="3200" b="1" kern="1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對</a:t>
            </a:r>
            <a:r>
              <a:rPr lang="zh-TW" altLang="zh-TW" sz="3200" b="1" kern="1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此模型</a:t>
            </a:r>
            <a:r>
              <a:rPr lang="zh-TW" altLang="zh-TW" sz="3200" b="1" kern="100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測試了不同的模型大小的訓練結果，發現其在訓練上明顯優於之前製作的</a:t>
            </a:r>
            <a:r>
              <a:rPr lang="en-US" altLang="zh-TW" sz="3200" b="1" kern="100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LSTM</a:t>
            </a:r>
            <a:r>
              <a:rPr lang="zh-TW" altLang="zh-TW" sz="3200" b="1" kern="100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模型，在調整不同的模型參數並測試後發現在</a:t>
            </a:r>
            <a:r>
              <a:rPr lang="en-US" altLang="zh-TW" sz="3200" b="1" kern="100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LSTM</a:t>
            </a:r>
            <a:r>
              <a:rPr lang="zh-TW" altLang="zh-TW" sz="3200" b="1" kern="100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</a:t>
            </a:r>
            <a:r>
              <a:rPr lang="en-US" altLang="zh-TW" sz="3200" b="1" kern="1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units=64</a:t>
            </a:r>
            <a:r>
              <a:rPr lang="zh-TW" altLang="zh-TW" sz="3200" b="1" kern="1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以及</a:t>
            </a:r>
            <a:r>
              <a:rPr lang="en-US" altLang="zh-TW" sz="3200" b="1" kern="1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units=16 (unit: Cell number) </a:t>
            </a:r>
            <a:r>
              <a:rPr lang="zh-TW" altLang="zh-TW" sz="3200" b="1" kern="100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時，</a:t>
            </a:r>
            <a:r>
              <a:rPr lang="zh-TW" altLang="en-US" sz="3200" b="1" kern="1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能</a:t>
            </a:r>
            <a:r>
              <a:rPr lang="zh-TW" altLang="zh-TW" sz="3200" b="1" kern="100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獲得較佳的評量結果。</a:t>
            </a:r>
            <a:r>
              <a:rPr lang="zh-TW" altLang="en-US" sz="32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另外</a:t>
            </a:r>
            <a:r>
              <a:rPr lang="zh-TW" altLang="en-US" sz="32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使用</a:t>
            </a:r>
            <a:r>
              <a:rPr lang="en-US" altLang="zh-TW" sz="3200" b="1" dirty="0" err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OpenVINO</a:t>
            </a:r>
            <a:r>
              <a:rPr lang="zh-TW" altLang="en-US" sz="32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處理，能優化並加速處理</a:t>
            </a:r>
            <a:r>
              <a:rPr lang="zh-TW" altLang="en-US" sz="32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資料分類，未來將會增加更多資料集，同時也會在資料處理部分做出不同變化，</a:t>
            </a:r>
            <a:r>
              <a:rPr lang="zh-TW" altLang="en-US" sz="32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以期</a:t>
            </a:r>
            <a:r>
              <a:rPr lang="zh-TW" altLang="en-US" sz="32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使實驗更能符合現實結果。</a:t>
            </a:r>
            <a:endParaRPr lang="zh-TW" altLang="en-US" sz="3200" b="1" dirty="0">
              <a:solidFill>
                <a:srgbClr val="0000FF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AED82A49-9009-8A06-B771-9E3551E9E6B4}"/>
              </a:ext>
            </a:extLst>
          </p:cNvPr>
          <p:cNvSpPr txBox="1"/>
          <p:nvPr/>
        </p:nvSpPr>
        <p:spPr>
          <a:xfrm>
            <a:off x="851787" y="40312445"/>
            <a:ext cx="1416167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b="1" i="0" u="none" strike="noStrike" dirty="0">
                <a:solidFill>
                  <a:srgbClr val="0000FF"/>
                </a:solidFill>
                <a:effectLst/>
                <a:ea typeface="Microsoft JhengHei" panose="020B0604030504040204" pitchFamily="34" charset="-120"/>
              </a:rPr>
              <a:t>[1] Yu, YW., Sun, CC., Hsieh, PK. et al. An edge-lit volume holographic optical element for an objective turret in a </a:t>
            </a:r>
            <a:r>
              <a:rPr lang="en-US" altLang="zh-TW" sz="3000" b="1" i="0" u="none" strike="noStrike" dirty="0" err="1">
                <a:solidFill>
                  <a:srgbClr val="0000FF"/>
                </a:solidFill>
                <a:effectLst/>
                <a:ea typeface="Microsoft JhengHei" panose="020B0604030504040204" pitchFamily="34" charset="-120"/>
              </a:rPr>
              <a:t>lensless</a:t>
            </a:r>
            <a:r>
              <a:rPr lang="en-US" altLang="zh-TW" sz="3000" b="1" i="0" u="none" strike="noStrike" dirty="0">
                <a:solidFill>
                  <a:srgbClr val="0000FF"/>
                </a:solidFill>
                <a:effectLst/>
                <a:ea typeface="Microsoft JhengHei" panose="020B0604030504040204" pitchFamily="34" charset="-120"/>
              </a:rPr>
              <a:t> digital holographic </a:t>
            </a:r>
            <a:r>
              <a:rPr lang="zh-TW" altLang="en-US" sz="3000" b="1" i="0" u="none" strike="noStrike" dirty="0">
                <a:solidFill>
                  <a:srgbClr val="0000FF"/>
                </a:solidFill>
                <a:effectLst/>
                <a:ea typeface="Microsoft JhengHei" panose="020B0604030504040204" pitchFamily="34" charset="-120"/>
              </a:rPr>
              <a:t> </a:t>
            </a:r>
            <a:r>
              <a:rPr lang="en-US" altLang="zh-TW" sz="3000" b="1" i="0" u="none" strike="noStrike" dirty="0">
                <a:solidFill>
                  <a:srgbClr val="0000FF"/>
                </a:solidFill>
                <a:effectLst/>
                <a:ea typeface="Microsoft JhengHei" panose="020B0604030504040204" pitchFamily="34" charset="-120"/>
              </a:rPr>
              <a:t>microscope. Sci Rep 10</a:t>
            </a:r>
            <a:r>
              <a:rPr lang="zh-TW" altLang="en-US" sz="3000" b="1" i="0" u="none" strike="noStrike" dirty="0">
                <a:solidFill>
                  <a:srgbClr val="0000FF"/>
                </a:solidFill>
                <a:effectLst/>
                <a:ea typeface="Microsoft JhengHei" panose="020B0604030504040204" pitchFamily="34" charset="-120"/>
              </a:rPr>
              <a:t> </a:t>
            </a:r>
            <a:r>
              <a:rPr lang="en-US" altLang="zh-TW" sz="3000" b="1" i="0" u="none" strike="noStrike" dirty="0">
                <a:solidFill>
                  <a:srgbClr val="0000FF"/>
                </a:solidFill>
                <a:effectLst/>
                <a:ea typeface="Microsoft JhengHei" panose="020B0604030504040204" pitchFamily="34" charset="-120"/>
              </a:rPr>
              <a:t>(2020) 14580.</a:t>
            </a:r>
          </a:p>
          <a:p>
            <a:r>
              <a:rPr lang="en-US" altLang="zh-TW" sz="3000" b="1" dirty="0">
                <a:solidFill>
                  <a:srgbClr val="0000FF"/>
                </a:solidFill>
                <a:ea typeface="Microsoft JhengHei" panose="020B0604030504040204" pitchFamily="34" charset="-120"/>
              </a:rPr>
              <a:t>[2]</a:t>
            </a:r>
            <a:r>
              <a:rPr lang="en-US" altLang="zh-TW" sz="3000" b="1" i="0" u="none" strike="noStrike" dirty="0">
                <a:solidFill>
                  <a:srgbClr val="0000FF"/>
                </a:solidFill>
                <a:effectLst/>
                <a:ea typeface="Microsoft JhengHei" panose="020B0604030504040204" pitchFamily="34" charset="-120"/>
              </a:rPr>
              <a:t> S. </a:t>
            </a:r>
            <a:r>
              <a:rPr lang="en-US" altLang="zh-TW" sz="3000" b="1" i="0" u="none" strike="noStrike" dirty="0" err="1">
                <a:solidFill>
                  <a:srgbClr val="0000FF"/>
                </a:solidFill>
                <a:effectLst/>
                <a:ea typeface="Microsoft JhengHei" panose="020B0604030504040204" pitchFamily="34" charset="-120"/>
              </a:rPr>
              <a:t>Hochreiter</a:t>
            </a:r>
            <a:r>
              <a:rPr lang="en-US" altLang="zh-TW" sz="3000" b="1" i="0" u="none" strike="noStrike" dirty="0">
                <a:solidFill>
                  <a:srgbClr val="0000FF"/>
                </a:solidFill>
                <a:effectLst/>
                <a:ea typeface="Microsoft JhengHei" panose="020B0604030504040204" pitchFamily="34" charset="-120"/>
              </a:rPr>
              <a:t> and J. </a:t>
            </a:r>
            <a:r>
              <a:rPr lang="en-US" altLang="zh-TW" sz="3000" b="1" i="0" u="none" strike="noStrike" dirty="0" err="1">
                <a:solidFill>
                  <a:srgbClr val="0000FF"/>
                </a:solidFill>
                <a:effectLst/>
                <a:ea typeface="Microsoft JhengHei" panose="020B0604030504040204" pitchFamily="34" charset="-120"/>
              </a:rPr>
              <a:t>Schmidhuber</a:t>
            </a:r>
            <a:r>
              <a:rPr lang="en-US" altLang="zh-TW" sz="3000" b="1" dirty="0">
                <a:solidFill>
                  <a:srgbClr val="0000FF"/>
                </a:solidFill>
                <a:ea typeface="Microsoft JhengHei" panose="020B0604030504040204" pitchFamily="34" charset="-120"/>
              </a:rPr>
              <a:t>,</a:t>
            </a:r>
            <a:r>
              <a:rPr lang="en-US" altLang="zh-TW" sz="3000" b="1" i="0" u="none" strike="noStrike" dirty="0">
                <a:solidFill>
                  <a:srgbClr val="0000FF"/>
                </a:solidFill>
                <a:effectLst/>
                <a:ea typeface="Microsoft JhengHei" panose="020B0604030504040204" pitchFamily="34" charset="-120"/>
              </a:rPr>
              <a:t> Long short-term memory, Neural computation,  9</a:t>
            </a:r>
            <a:r>
              <a:rPr lang="zh-TW" altLang="en-US" sz="3000" b="1" i="0" u="none" strike="noStrike" dirty="0">
                <a:solidFill>
                  <a:srgbClr val="0000FF"/>
                </a:solidFill>
                <a:effectLst/>
                <a:ea typeface="Microsoft JhengHei" panose="020B0604030504040204" pitchFamily="34" charset="-120"/>
              </a:rPr>
              <a:t> </a:t>
            </a:r>
            <a:r>
              <a:rPr lang="en-US" altLang="zh-TW" sz="3000" b="1" i="0" u="none" strike="noStrike" dirty="0">
                <a:solidFill>
                  <a:srgbClr val="0000FF"/>
                </a:solidFill>
                <a:effectLst/>
                <a:ea typeface="Microsoft JhengHei" panose="020B0604030504040204" pitchFamily="34" charset="-120"/>
              </a:rPr>
              <a:t>(1997) 1735-1780.</a:t>
            </a:r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F435E7CD-A9FA-7559-F66E-924AC3683271}"/>
              </a:ext>
            </a:extLst>
          </p:cNvPr>
          <p:cNvSpPr txBox="1"/>
          <p:nvPr/>
        </p:nvSpPr>
        <p:spPr>
          <a:xfrm>
            <a:off x="1285125" y="25648801"/>
            <a:ext cx="648751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</a:pPr>
            <a:r>
              <a:rPr lang="zh-TW" altLang="en-US" sz="30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圖</a:t>
            </a:r>
            <a:r>
              <a:rPr lang="en-US" altLang="zh-TW" sz="30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2d.</a:t>
            </a:r>
            <a:r>
              <a:rPr lang="zh-TW" altLang="en-US" sz="30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altLang="zh-TW" sz="30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x</a:t>
            </a:r>
            <a:r>
              <a:rPr lang="zh-TW" altLang="en-US" sz="30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軸偵測</a:t>
            </a:r>
            <a:r>
              <a:rPr lang="zh-TW" altLang="en-US" sz="30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平面直線的</a:t>
            </a:r>
            <a:r>
              <a:rPr lang="en-US" altLang="zh-TW" sz="30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pixel</a:t>
            </a:r>
            <a:r>
              <a:rPr lang="zh-TW" altLang="en-US" sz="30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值</a:t>
            </a:r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5EF54A04-6AAD-C80E-1B8A-3280FB7B7CDA}"/>
              </a:ext>
            </a:extLst>
          </p:cNvPr>
          <p:cNvSpPr txBox="1"/>
          <p:nvPr/>
        </p:nvSpPr>
        <p:spPr>
          <a:xfrm>
            <a:off x="7477714" y="25656518"/>
            <a:ext cx="630422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</a:pPr>
            <a:r>
              <a:rPr lang="zh-TW" altLang="en-US" sz="30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圖</a:t>
            </a:r>
            <a:r>
              <a:rPr lang="en-US" altLang="zh-TW" sz="3000" b="1" dirty="0" err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2e</a:t>
            </a:r>
            <a:r>
              <a:rPr lang="en-US" altLang="zh-TW" sz="30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.</a:t>
            </a:r>
            <a:r>
              <a:rPr lang="zh-TW" altLang="en-US" sz="30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累積</a:t>
            </a:r>
            <a:r>
              <a:rPr lang="en-US" altLang="zh-TW" sz="30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zh-TW" altLang="en-US" sz="30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次所有振動全部</a:t>
            </a:r>
            <a:r>
              <a:rPr lang="en-US" altLang="zh-TW" sz="30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pixel</a:t>
            </a:r>
            <a:r>
              <a:rPr lang="zh-TW" altLang="en-US" sz="30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值</a:t>
            </a:r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968BA338-7E27-113F-F62F-435A51370ACF}"/>
              </a:ext>
            </a:extLst>
          </p:cNvPr>
          <p:cNvSpPr txBox="1"/>
          <p:nvPr/>
        </p:nvSpPr>
        <p:spPr>
          <a:xfrm>
            <a:off x="1577453" y="35192362"/>
            <a:ext cx="589749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0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圖</a:t>
            </a:r>
            <a:r>
              <a:rPr lang="en-US" altLang="zh-TW" sz="30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5</a:t>
            </a:r>
            <a:r>
              <a:rPr lang="en-US" altLang="zh-TW" sz="30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. a-z</a:t>
            </a:r>
            <a:r>
              <a:rPr lang="zh-TW" altLang="en-US" sz="30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各字母振動預測準確率</a:t>
            </a:r>
            <a:endParaRPr lang="zh-TW" altLang="en-US" sz="3000" b="1" dirty="0">
              <a:solidFill>
                <a:srgbClr val="0000FF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46D77679-ACD6-7401-C105-5743F185D682}"/>
              </a:ext>
            </a:extLst>
          </p:cNvPr>
          <p:cNvSpPr txBox="1"/>
          <p:nvPr/>
        </p:nvSpPr>
        <p:spPr>
          <a:xfrm>
            <a:off x="24785457" y="20834480"/>
            <a:ext cx="4540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0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圖</a:t>
            </a:r>
            <a:r>
              <a:rPr lang="en-US" altLang="zh-TW" sz="3000" b="1" dirty="0" err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3e</a:t>
            </a:r>
            <a:r>
              <a:rPr lang="en-US" altLang="zh-TW" sz="30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.</a:t>
            </a:r>
            <a:r>
              <a:rPr lang="zh-TW" altLang="en-US" sz="30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邊緣運算裝置</a:t>
            </a:r>
            <a:endParaRPr lang="en-US" altLang="zh-TW" sz="3000" b="1" dirty="0">
              <a:solidFill>
                <a:srgbClr val="0000FF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8" name="文字方塊 77">
            <a:extLst>
              <a:ext uri="{FF2B5EF4-FFF2-40B4-BE49-F238E27FC236}">
                <a16:creationId xmlns:a16="http://schemas.microsoft.com/office/drawing/2014/main" id="{F6AF1480-EF05-31A1-B793-E7C9AF9F6100}"/>
              </a:ext>
            </a:extLst>
          </p:cNvPr>
          <p:cNvSpPr txBox="1"/>
          <p:nvPr/>
        </p:nvSpPr>
        <p:spPr>
          <a:xfrm>
            <a:off x="1412235" y="20826051"/>
            <a:ext cx="490598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0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圖</a:t>
            </a:r>
            <a:r>
              <a:rPr lang="en-US" altLang="zh-TW" sz="3000" b="1" dirty="0" err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2a</a:t>
            </a:r>
            <a:r>
              <a:rPr lang="en-US" altLang="zh-TW" sz="30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.</a:t>
            </a:r>
            <a:r>
              <a:rPr lang="zh-TW" altLang="en-US" sz="30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zh-TW" altLang="en-US" sz="30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將影片轉為灰階</a:t>
            </a:r>
            <a:endParaRPr lang="zh-TW" altLang="en-US" sz="3000" b="1" dirty="0">
              <a:solidFill>
                <a:srgbClr val="0000FF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0" name="文字方塊 79">
            <a:extLst>
              <a:ext uri="{FF2B5EF4-FFF2-40B4-BE49-F238E27FC236}">
                <a16:creationId xmlns:a16="http://schemas.microsoft.com/office/drawing/2014/main" id="{FDCEF376-AC6B-1AA6-4E52-B813BBDBFC16}"/>
              </a:ext>
            </a:extLst>
          </p:cNvPr>
          <p:cNvSpPr txBox="1"/>
          <p:nvPr/>
        </p:nvSpPr>
        <p:spPr>
          <a:xfrm>
            <a:off x="5567098" y="20770417"/>
            <a:ext cx="42007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0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圖</a:t>
            </a:r>
            <a:r>
              <a:rPr lang="en-US" altLang="zh-TW" sz="30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2b. CNN</a:t>
            </a:r>
            <a:r>
              <a:rPr lang="zh-TW" altLang="en-US" sz="30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神經網路</a:t>
            </a:r>
          </a:p>
        </p:txBody>
      </p:sp>
      <p:pic>
        <p:nvPicPr>
          <p:cNvPr id="81" name="Picture 2">
            <a:extLst>
              <a:ext uri="{FF2B5EF4-FFF2-40B4-BE49-F238E27FC236}">
                <a16:creationId xmlns:a16="http://schemas.microsoft.com/office/drawing/2014/main" id="{5082B9FA-4F78-45DB-60ED-391FC68530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762" t="17372" r="17051" b="58103"/>
          <a:stretch/>
        </p:blipFill>
        <p:spPr bwMode="auto">
          <a:xfrm>
            <a:off x="9891129" y="17529297"/>
            <a:ext cx="3279864" cy="297927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" name="文字方塊 81">
            <a:extLst>
              <a:ext uri="{FF2B5EF4-FFF2-40B4-BE49-F238E27FC236}">
                <a16:creationId xmlns:a16="http://schemas.microsoft.com/office/drawing/2014/main" id="{EE214059-7511-B1D5-D945-E18C86C6E24F}"/>
              </a:ext>
            </a:extLst>
          </p:cNvPr>
          <p:cNvSpPr txBox="1"/>
          <p:nvPr/>
        </p:nvSpPr>
        <p:spPr>
          <a:xfrm>
            <a:off x="9949531" y="20764671"/>
            <a:ext cx="349557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0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圖</a:t>
            </a:r>
            <a:r>
              <a:rPr lang="en-US" altLang="zh-TW" sz="3000" b="1" dirty="0" err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2c</a:t>
            </a:r>
            <a:r>
              <a:rPr lang="en-US" altLang="zh-TW" sz="30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.</a:t>
            </a:r>
            <a:r>
              <a:rPr lang="zh-TW" altLang="en-US" sz="30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繞射圖</a:t>
            </a:r>
          </a:p>
        </p:txBody>
      </p:sp>
      <p:pic>
        <p:nvPicPr>
          <p:cNvPr id="83" name="圖片 82">
            <a:extLst>
              <a:ext uri="{FF2B5EF4-FFF2-40B4-BE49-F238E27FC236}">
                <a16:creationId xmlns:a16="http://schemas.microsoft.com/office/drawing/2014/main" id="{287886C7-6F14-727D-9ECC-4D0D02F8075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375480" y="21751691"/>
            <a:ext cx="6437847" cy="3601743"/>
          </a:xfrm>
          <a:prstGeom prst="rect">
            <a:avLst/>
          </a:prstGeom>
        </p:spPr>
      </p:pic>
      <p:sp>
        <p:nvSpPr>
          <p:cNvPr id="85" name="文字方塊 84">
            <a:extLst>
              <a:ext uri="{FF2B5EF4-FFF2-40B4-BE49-F238E27FC236}">
                <a16:creationId xmlns:a16="http://schemas.microsoft.com/office/drawing/2014/main" id="{8384A326-EC8D-6F6A-0311-9210C654604B}"/>
              </a:ext>
            </a:extLst>
          </p:cNvPr>
          <p:cNvSpPr txBox="1"/>
          <p:nvPr/>
        </p:nvSpPr>
        <p:spPr>
          <a:xfrm>
            <a:off x="20355024" y="20854205"/>
            <a:ext cx="40265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</a:pPr>
            <a:r>
              <a:rPr lang="zh-TW" altLang="en-US" sz="30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圖</a:t>
            </a:r>
            <a:r>
              <a:rPr lang="en-US" altLang="zh-TW" sz="30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3d.</a:t>
            </a:r>
            <a:r>
              <a:rPr lang="zh-TW" altLang="en-US" sz="30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altLang="zh-TW" sz="3000" b="1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LRCN</a:t>
            </a:r>
            <a:r>
              <a:rPr lang="zh-TW" altLang="zh-TW" sz="3000" b="1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模型單元</a:t>
            </a:r>
            <a:endParaRPr lang="zh-TW" altLang="en-US" sz="3000" b="1" i="0" u="none" strike="noStrike" dirty="0">
              <a:solidFill>
                <a:srgbClr val="0000FF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45CB4397-2FC3-D714-3124-C4186268D9F1}"/>
              </a:ext>
            </a:extLst>
          </p:cNvPr>
          <p:cNvSpPr txBox="1"/>
          <p:nvPr/>
        </p:nvSpPr>
        <p:spPr>
          <a:xfrm>
            <a:off x="14612154" y="25660838"/>
            <a:ext cx="488337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</a:pPr>
            <a:r>
              <a:rPr lang="zh-TW" altLang="en-US" sz="30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圖</a:t>
            </a:r>
            <a:r>
              <a:rPr lang="en-US" altLang="zh-TW" sz="3000" b="1" dirty="0" err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3f</a:t>
            </a:r>
            <a:r>
              <a:rPr lang="en-US" altLang="zh-TW" sz="30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.</a:t>
            </a:r>
            <a:r>
              <a:rPr lang="zh-TW" altLang="en-US" sz="30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altLang="zh-TW" sz="3000" b="1" dirty="0" err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OpenVINO</a:t>
            </a:r>
            <a:r>
              <a:rPr lang="en-US" altLang="zh-TW" sz="30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IR</a:t>
            </a:r>
            <a:r>
              <a:rPr lang="zh-TW" altLang="en-US" sz="30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輸出</a:t>
            </a:r>
            <a:endParaRPr lang="zh-TW" altLang="en-US" sz="3000" b="1" i="0" u="none" strike="noStrike" dirty="0">
              <a:solidFill>
                <a:srgbClr val="0000FF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88" name="圖片 87">
            <a:extLst>
              <a:ext uri="{FF2B5EF4-FFF2-40B4-BE49-F238E27FC236}">
                <a16:creationId xmlns:a16="http://schemas.microsoft.com/office/drawing/2014/main" id="{BBFC9199-4065-9A99-653A-F552D300226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43356" y="27521039"/>
            <a:ext cx="5214157" cy="3271773"/>
          </a:xfrm>
          <a:prstGeom prst="rect">
            <a:avLst/>
          </a:prstGeom>
        </p:spPr>
      </p:pic>
      <p:sp>
        <p:nvSpPr>
          <p:cNvPr id="89" name="文字方塊 88">
            <a:extLst>
              <a:ext uri="{FF2B5EF4-FFF2-40B4-BE49-F238E27FC236}">
                <a16:creationId xmlns:a16="http://schemas.microsoft.com/office/drawing/2014/main" id="{A2E3FC11-FB1D-96A5-9903-050A5CCEE230}"/>
              </a:ext>
            </a:extLst>
          </p:cNvPr>
          <p:cNvSpPr txBox="1"/>
          <p:nvPr/>
        </p:nvSpPr>
        <p:spPr>
          <a:xfrm>
            <a:off x="1631446" y="30929328"/>
            <a:ext cx="50207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</a:pPr>
            <a:r>
              <a:rPr lang="zh-TW" altLang="en-US" sz="30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圖</a:t>
            </a:r>
            <a:r>
              <a:rPr lang="en-US" altLang="zh-TW" sz="30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4.</a:t>
            </a:r>
            <a:r>
              <a:rPr lang="zh-TW" altLang="en-US" sz="30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altLang="zh-TW" sz="30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</a:t>
            </a:r>
            <a:r>
              <a:rPr lang="zh-TW" altLang="en-US" sz="30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字母手寫繞射振動</a:t>
            </a:r>
            <a:endParaRPr lang="zh-TW" altLang="en-US" sz="3000" b="1" i="0" u="none" strike="noStrike" dirty="0">
              <a:solidFill>
                <a:srgbClr val="0000FF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91" name="群組 90">
            <a:extLst>
              <a:ext uri="{FF2B5EF4-FFF2-40B4-BE49-F238E27FC236}">
                <a16:creationId xmlns:a16="http://schemas.microsoft.com/office/drawing/2014/main" id="{D5041C88-BF74-DE45-8A15-6AFFAFB1F930}"/>
              </a:ext>
            </a:extLst>
          </p:cNvPr>
          <p:cNvGrpSpPr/>
          <p:nvPr/>
        </p:nvGrpSpPr>
        <p:grpSpPr>
          <a:xfrm>
            <a:off x="19516406" y="17323024"/>
            <a:ext cx="5010940" cy="3422237"/>
            <a:chOff x="261533" y="0"/>
            <a:chExt cx="3372572" cy="2159635"/>
          </a:xfrm>
        </p:grpSpPr>
        <p:pic>
          <p:nvPicPr>
            <p:cNvPr id="92" name="圖片 91">
              <a:extLst>
                <a:ext uri="{FF2B5EF4-FFF2-40B4-BE49-F238E27FC236}">
                  <a16:creationId xmlns:a16="http://schemas.microsoft.com/office/drawing/2014/main" id="{611E70E2-741C-ED60-2417-A89C1906B3A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553" r="24647" b="6"/>
            <a:stretch/>
          </p:blipFill>
          <p:spPr bwMode="auto">
            <a:xfrm>
              <a:off x="261533" y="0"/>
              <a:ext cx="652852" cy="2159492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93" name="圖片 92">
              <a:extLst>
                <a:ext uri="{FF2B5EF4-FFF2-40B4-BE49-F238E27FC236}">
                  <a16:creationId xmlns:a16="http://schemas.microsoft.com/office/drawing/2014/main" id="{C131E298-0AFA-B3B6-9439-C31DA872725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19"/>
            <a:stretch/>
          </p:blipFill>
          <p:spPr bwMode="auto">
            <a:xfrm>
              <a:off x="914400" y="0"/>
              <a:ext cx="2719705" cy="2159635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pic>
        <p:nvPicPr>
          <p:cNvPr id="94" name="圖片 93">
            <a:extLst>
              <a:ext uri="{FF2B5EF4-FFF2-40B4-BE49-F238E27FC236}">
                <a16:creationId xmlns:a16="http://schemas.microsoft.com/office/drawing/2014/main" id="{54A36B9A-7284-F77E-9145-F2BB0FEEEA6D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5361" y="17225948"/>
            <a:ext cx="4701366" cy="342201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文字方塊 94">
            <a:extLst>
              <a:ext uri="{FF2B5EF4-FFF2-40B4-BE49-F238E27FC236}">
                <a16:creationId xmlns:a16="http://schemas.microsoft.com/office/drawing/2014/main" id="{BA7826AB-EEDC-6F86-C1DB-EA86EBEA8EB7}"/>
              </a:ext>
            </a:extLst>
          </p:cNvPr>
          <p:cNvSpPr txBox="1"/>
          <p:nvPr/>
        </p:nvSpPr>
        <p:spPr>
          <a:xfrm>
            <a:off x="14328066" y="20903132"/>
            <a:ext cx="481866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</a:pPr>
            <a:r>
              <a:rPr lang="zh-TW" altLang="en-US" sz="30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圖</a:t>
            </a:r>
            <a:r>
              <a:rPr lang="en-US" altLang="zh-TW" sz="30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3c. </a:t>
            </a:r>
            <a:r>
              <a:rPr lang="en-US" altLang="zh-TW" sz="2800" b="1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ConvLSTM2D</a:t>
            </a:r>
            <a:r>
              <a:rPr lang="zh-TW" altLang="zh-TW" sz="2800" b="1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概念圖</a:t>
            </a:r>
            <a:endParaRPr lang="zh-TW" altLang="en-US" sz="2800" b="1" i="0" u="none" strike="noStrike" dirty="0">
              <a:solidFill>
                <a:srgbClr val="0000FF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96" name="群組 95">
            <a:extLst>
              <a:ext uri="{FF2B5EF4-FFF2-40B4-BE49-F238E27FC236}">
                <a16:creationId xmlns:a16="http://schemas.microsoft.com/office/drawing/2014/main" id="{27596597-3550-A8A4-08C0-C5867EC7BCBE}"/>
              </a:ext>
            </a:extLst>
          </p:cNvPr>
          <p:cNvGrpSpPr/>
          <p:nvPr/>
        </p:nvGrpSpPr>
        <p:grpSpPr>
          <a:xfrm>
            <a:off x="7359686" y="26829932"/>
            <a:ext cx="6970176" cy="3736998"/>
            <a:chOff x="0" y="0"/>
            <a:chExt cx="4994910" cy="1799590"/>
          </a:xfrm>
        </p:grpSpPr>
        <p:pic>
          <p:nvPicPr>
            <p:cNvPr id="97" name="圖片 96">
              <a:extLst>
                <a:ext uri="{FF2B5EF4-FFF2-40B4-BE49-F238E27FC236}">
                  <a16:creationId xmlns:a16="http://schemas.microsoft.com/office/drawing/2014/main" id="{530E8354-2E59-EE50-453C-4EC15A446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3650" y="0"/>
              <a:ext cx="2461260" cy="1799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" name="圖片 97">
              <a:extLst>
                <a:ext uri="{FF2B5EF4-FFF2-40B4-BE49-F238E27FC236}">
                  <a16:creationId xmlns:a16="http://schemas.microsoft.com/office/drawing/2014/main" id="{6A82BED3-F2A4-1CCA-96F8-CEC391CBA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2529840" cy="179959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9" name="群組 98">
            <a:extLst>
              <a:ext uri="{FF2B5EF4-FFF2-40B4-BE49-F238E27FC236}">
                <a16:creationId xmlns:a16="http://schemas.microsoft.com/office/drawing/2014/main" id="{7A27A107-61DC-9AFE-821C-C172DEA594EF}"/>
              </a:ext>
            </a:extLst>
          </p:cNvPr>
          <p:cNvGrpSpPr/>
          <p:nvPr/>
        </p:nvGrpSpPr>
        <p:grpSpPr>
          <a:xfrm>
            <a:off x="7413433" y="32031221"/>
            <a:ext cx="6774699" cy="3477874"/>
            <a:chOff x="0" y="0"/>
            <a:chExt cx="5063490" cy="1799590"/>
          </a:xfrm>
        </p:grpSpPr>
        <p:pic>
          <p:nvPicPr>
            <p:cNvPr id="100" name="圖片 99">
              <a:extLst>
                <a:ext uri="{FF2B5EF4-FFF2-40B4-BE49-F238E27FC236}">
                  <a16:creationId xmlns:a16="http://schemas.microsoft.com/office/drawing/2014/main" id="{B0330BD1-3811-65A1-90D6-CEB1C79EDE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3650" y="0"/>
              <a:ext cx="2529840" cy="1799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圖片 100">
              <a:extLst>
                <a:ext uri="{FF2B5EF4-FFF2-40B4-BE49-F238E27FC236}">
                  <a16:creationId xmlns:a16="http://schemas.microsoft.com/office/drawing/2014/main" id="{1E62A3EA-42D6-92A2-97B2-200910247A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2529205" cy="17995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2" name="文字方塊 101">
            <a:extLst>
              <a:ext uri="{FF2B5EF4-FFF2-40B4-BE49-F238E27FC236}">
                <a16:creationId xmlns:a16="http://schemas.microsoft.com/office/drawing/2014/main" id="{A645D272-35AC-9AF1-BB07-1415D2465EE5}"/>
              </a:ext>
            </a:extLst>
          </p:cNvPr>
          <p:cNvSpPr txBox="1"/>
          <p:nvPr/>
        </p:nvSpPr>
        <p:spPr>
          <a:xfrm>
            <a:off x="7339203" y="30822546"/>
            <a:ext cx="74461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04800" marR="304800">
              <a:spcAft>
                <a:spcPts val="0"/>
              </a:spcAft>
            </a:pPr>
            <a:r>
              <a:rPr lang="zh-TW" altLang="en-US" sz="28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圖</a:t>
            </a:r>
            <a:r>
              <a:rPr lang="en-US" altLang="zh-TW" sz="28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6a</a:t>
            </a:r>
            <a:r>
              <a:rPr lang="en-US" altLang="zh-TW" sz="28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. </a:t>
            </a:r>
            <a:r>
              <a:rPr lang="en-US" altLang="zh-TW" sz="2800" b="1" kern="100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ConvLSTM2D </a:t>
            </a:r>
            <a:r>
              <a:rPr lang="zh-TW" altLang="zh-TW" sz="2800" b="1" kern="100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模型訓練過程</a:t>
            </a:r>
            <a:r>
              <a:rPr lang="en-US" altLang="zh-TW" sz="2800" b="1" kern="100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Accuracy</a:t>
            </a:r>
            <a:r>
              <a:rPr lang="zh-TW" altLang="en-US" sz="2800" b="1" kern="100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 </a:t>
            </a:r>
            <a:r>
              <a:rPr lang="en-US" altLang="zh-TW" sz="2800" b="1" kern="100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max= 68.87%</a:t>
            </a:r>
            <a:r>
              <a:rPr lang="zh-TW" altLang="en-US" sz="2800" b="1" kern="100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</a:t>
            </a:r>
            <a:r>
              <a:rPr lang="zh-TW" altLang="zh-TW" sz="2800" b="1" kern="100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圖</a:t>
            </a:r>
            <a:r>
              <a:rPr lang="en-US" altLang="zh-TW" sz="2800" b="1" kern="1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6b</a:t>
            </a:r>
            <a:r>
              <a:rPr lang="en-US" altLang="zh-TW" sz="2800" b="1" kern="100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. Loss</a:t>
            </a:r>
            <a:r>
              <a:rPr lang="zh-TW" altLang="en-US" sz="2800" b="1" kern="100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zh-TW" altLang="en-US" dirty="0">
              <a:solidFill>
                <a:srgbClr val="0000FF"/>
              </a:solidFill>
            </a:endParaRPr>
          </a:p>
        </p:txBody>
      </p:sp>
      <p:pic>
        <p:nvPicPr>
          <p:cNvPr id="103" name="圖片 102">
            <a:extLst>
              <a:ext uri="{FF2B5EF4-FFF2-40B4-BE49-F238E27FC236}">
                <a16:creationId xmlns:a16="http://schemas.microsoft.com/office/drawing/2014/main" id="{2C88B4B4-9147-F1BB-9D86-D5CA9BA7427F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92519" y="26452917"/>
            <a:ext cx="5104258" cy="4561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圖片 103">
            <a:extLst>
              <a:ext uri="{FF2B5EF4-FFF2-40B4-BE49-F238E27FC236}">
                <a16:creationId xmlns:a16="http://schemas.microsoft.com/office/drawing/2014/main" id="{5AE69321-2003-F164-B30B-AC08022EF966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49257" y="31402742"/>
            <a:ext cx="5151714" cy="446595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文字方塊 104">
            <a:extLst>
              <a:ext uri="{FF2B5EF4-FFF2-40B4-BE49-F238E27FC236}">
                <a16:creationId xmlns:a16="http://schemas.microsoft.com/office/drawing/2014/main" id="{1128ABE2-B0E8-A847-DF90-8F429F97EFED}"/>
              </a:ext>
            </a:extLst>
          </p:cNvPr>
          <p:cNvSpPr txBox="1"/>
          <p:nvPr/>
        </p:nvSpPr>
        <p:spPr>
          <a:xfrm>
            <a:off x="7251197" y="35556911"/>
            <a:ext cx="792058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04800" marR="304800">
              <a:spcAft>
                <a:spcPts val="0"/>
              </a:spcAft>
            </a:pPr>
            <a:r>
              <a:rPr lang="zh-TW" altLang="en-US" sz="28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圖</a:t>
            </a:r>
            <a:r>
              <a:rPr lang="en-US" altLang="zh-TW" sz="28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6c</a:t>
            </a:r>
            <a:r>
              <a:rPr lang="en-US" altLang="zh-TW" sz="28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. </a:t>
            </a:r>
            <a:r>
              <a:rPr lang="en-US" altLang="zh-TW" sz="2800" b="1" kern="2600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LRCN</a:t>
            </a:r>
            <a:r>
              <a:rPr lang="zh-TW" altLang="zh-TW" sz="2800" b="1" kern="100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模型</a:t>
            </a:r>
            <a:r>
              <a:rPr lang="zh-TW" altLang="en-US" sz="2800" b="1" kern="100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</a:t>
            </a:r>
            <a:r>
              <a:rPr lang="zh-TW" altLang="zh-TW" sz="2800" b="1" kern="100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訓練過程</a:t>
            </a:r>
            <a:r>
              <a:rPr lang="en-US" altLang="zh-TW" sz="2800" b="1" kern="100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Accuracy</a:t>
            </a:r>
            <a:r>
              <a:rPr lang="zh-TW" altLang="en-US" sz="2800" b="1" kern="100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</a:t>
            </a:r>
            <a:endParaRPr lang="en-US" altLang="zh-TW" sz="2800" b="1" kern="100" dirty="0">
              <a:solidFill>
                <a:srgbClr val="0000FF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04800" marR="304800">
              <a:spcAft>
                <a:spcPts val="0"/>
              </a:spcAft>
            </a:pPr>
            <a:r>
              <a:rPr lang="en-US" altLang="zh-TW" sz="2800" b="1" kern="100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Max = 70.75% </a:t>
            </a:r>
            <a:r>
              <a:rPr lang="zh-TW" altLang="en-US" sz="2800" b="1" kern="100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</a:t>
            </a:r>
            <a:r>
              <a:rPr lang="zh-TW" altLang="zh-TW" sz="2800" b="1" kern="100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圖</a:t>
            </a:r>
            <a:r>
              <a:rPr lang="en-US" altLang="zh-TW" sz="2800" b="1" kern="100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6</a:t>
            </a:r>
            <a:r>
              <a:rPr lang="en-US" altLang="zh-TW" sz="2800" b="1" kern="1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d</a:t>
            </a:r>
            <a:r>
              <a:rPr lang="en-US" altLang="zh-TW" sz="2800" b="1" kern="100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. Loss</a:t>
            </a:r>
            <a:r>
              <a:rPr lang="zh-TW" altLang="en-US" sz="2800" b="1" kern="100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zh-TW" altLang="zh-TW" sz="1800" kern="100" dirty="0">
              <a:solidFill>
                <a:srgbClr val="002060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zh-TW" altLang="en-US" dirty="0">
              <a:solidFill>
                <a:srgbClr val="002060"/>
              </a:solidFill>
            </a:endParaRPr>
          </a:p>
        </p:txBody>
      </p:sp>
      <p:sp>
        <p:nvSpPr>
          <p:cNvPr id="106" name="文字方塊 105">
            <a:extLst>
              <a:ext uri="{FF2B5EF4-FFF2-40B4-BE49-F238E27FC236}">
                <a16:creationId xmlns:a16="http://schemas.microsoft.com/office/drawing/2014/main" id="{A2BEF8DD-ADD6-D3B8-6202-824F2015F735}"/>
              </a:ext>
            </a:extLst>
          </p:cNvPr>
          <p:cNvSpPr txBox="1"/>
          <p:nvPr/>
        </p:nvSpPr>
        <p:spPr>
          <a:xfrm>
            <a:off x="14962631" y="30708475"/>
            <a:ext cx="46472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04800" marR="304800">
              <a:spcAft>
                <a:spcPts val="0"/>
              </a:spcAft>
            </a:pPr>
            <a:r>
              <a:rPr lang="zh-TW" altLang="en-US" sz="28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圖</a:t>
            </a:r>
            <a:r>
              <a:rPr lang="en-US" altLang="zh-TW" sz="28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7a</a:t>
            </a:r>
            <a:r>
              <a:rPr lang="en-US" altLang="zh-TW" sz="28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. </a:t>
            </a:r>
            <a:r>
              <a:rPr lang="en-US" altLang="zh-TW" sz="2800" b="1" kern="100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ConvLSTM2D </a:t>
            </a:r>
            <a:r>
              <a:rPr lang="zh-TW" altLang="zh-TW" sz="2800" b="1" kern="100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模型</a:t>
            </a:r>
            <a:r>
              <a:rPr lang="en-US" altLang="zh-TW" sz="2800" b="1" kern="1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Confusion matrix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107" name="文字方塊 106">
            <a:extLst>
              <a:ext uri="{FF2B5EF4-FFF2-40B4-BE49-F238E27FC236}">
                <a16:creationId xmlns:a16="http://schemas.microsoft.com/office/drawing/2014/main" id="{CA9365EF-AA02-EAB1-8E58-B5F26B55B498}"/>
              </a:ext>
            </a:extLst>
          </p:cNvPr>
          <p:cNvSpPr txBox="1"/>
          <p:nvPr/>
        </p:nvSpPr>
        <p:spPr>
          <a:xfrm>
            <a:off x="14971792" y="35616046"/>
            <a:ext cx="51517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04800" marR="304800">
              <a:spcAft>
                <a:spcPts val="0"/>
              </a:spcAft>
            </a:pPr>
            <a:r>
              <a:rPr lang="zh-TW" altLang="en-US" sz="28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圖</a:t>
            </a:r>
            <a:r>
              <a:rPr lang="en-US" altLang="zh-TW" sz="28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7b</a:t>
            </a:r>
            <a:r>
              <a:rPr lang="en-US" altLang="zh-TW" sz="28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. </a:t>
            </a:r>
            <a:r>
              <a:rPr lang="en-US" altLang="zh-TW" sz="2800" b="1" kern="100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LRCN </a:t>
            </a:r>
            <a:r>
              <a:rPr lang="zh-TW" altLang="zh-TW" sz="2800" b="1" kern="100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模型</a:t>
            </a:r>
            <a:r>
              <a:rPr lang="en-US" altLang="zh-TW" sz="2800" b="1" kern="1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Confusion matrix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109" name="剪去對角線角落矩形 13">
            <a:extLst>
              <a:ext uri="{FF2B5EF4-FFF2-40B4-BE49-F238E27FC236}">
                <a16:creationId xmlns:a16="http://schemas.microsoft.com/office/drawing/2014/main" id="{82A8CF01-66AF-3EAC-0D27-2FF36D9469BA}"/>
              </a:ext>
            </a:extLst>
          </p:cNvPr>
          <p:cNvSpPr/>
          <p:nvPr/>
        </p:nvSpPr>
        <p:spPr>
          <a:xfrm>
            <a:off x="15290163" y="39220012"/>
            <a:ext cx="4400924" cy="778850"/>
          </a:xfrm>
          <a:prstGeom prst="snip2DiagRect">
            <a:avLst>
              <a:gd name="adj1" fmla="val 0"/>
              <a:gd name="adj2" fmla="val 40154"/>
            </a:avLst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4400" b="1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感謝</a:t>
            </a:r>
          </a:p>
        </p:txBody>
      </p:sp>
      <p:sp>
        <p:nvSpPr>
          <p:cNvPr id="110" name="文字方塊 109">
            <a:extLst>
              <a:ext uri="{FF2B5EF4-FFF2-40B4-BE49-F238E27FC236}">
                <a16:creationId xmlns:a16="http://schemas.microsoft.com/office/drawing/2014/main" id="{B260D0C1-E4E8-D60C-7DD9-87487DD91634}"/>
              </a:ext>
            </a:extLst>
          </p:cNvPr>
          <p:cNvSpPr txBox="1"/>
          <p:nvPr/>
        </p:nvSpPr>
        <p:spPr>
          <a:xfrm>
            <a:off x="15358196" y="40062875"/>
            <a:ext cx="13259397" cy="15696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32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110</a:t>
            </a:r>
            <a:r>
              <a:rPr lang="zh-TW" altLang="en-US" sz="32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年教育部中小學人工智慧教育推廣計畫，</a:t>
            </a:r>
            <a:r>
              <a:rPr lang="en-US" altLang="zh-TW" sz="32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Intel corporation</a:t>
            </a:r>
            <a:r>
              <a:rPr lang="zh-TW" altLang="en-US" sz="32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 以及感謝</a:t>
            </a:r>
            <a:r>
              <a:rPr lang="zh-TW" altLang="en-US" sz="3200" b="1" i="0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國研院國網中心</a:t>
            </a:r>
            <a:r>
              <a:rPr lang="en-US" altLang="zh-TW" sz="3200" b="1" i="0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TWCC</a:t>
            </a:r>
            <a:r>
              <a:rPr lang="zh-TW" altLang="en-US" sz="3200" b="1" i="0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提供計算與儲存資源</a:t>
            </a:r>
            <a:r>
              <a:rPr lang="zh-TW" altLang="en-US" sz="32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sz="32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111</a:t>
            </a:r>
            <a:r>
              <a:rPr lang="zh-TW" altLang="en-US" sz="32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年新興科技教育遠距示範服務計畫，協助</a:t>
            </a:r>
            <a:r>
              <a:rPr lang="zh-TW" altLang="en-US" sz="3200" b="1" i="0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本研究順利進行。</a:t>
            </a:r>
            <a:endParaRPr lang="zh-TW" altLang="en-US" sz="3200" b="1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" name="圖片 2" descr="一張含有 電子用品, 投影機 的圖片&#10;&#10;自動產生的描述">
            <a:extLst>
              <a:ext uri="{FF2B5EF4-FFF2-40B4-BE49-F238E27FC236}">
                <a16:creationId xmlns:a16="http://schemas.microsoft.com/office/drawing/2014/main" id="{84B13363-EE47-1CC8-6377-7C7EB4A11E53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2259" y="17837899"/>
            <a:ext cx="4030292" cy="2256964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3C8EDA91-A498-0FC9-E91F-A2169305CE4A}"/>
              </a:ext>
            </a:extLst>
          </p:cNvPr>
          <p:cNvSpPr txBox="1"/>
          <p:nvPr/>
        </p:nvSpPr>
        <p:spPr>
          <a:xfrm>
            <a:off x="8818539" y="14940454"/>
            <a:ext cx="56671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0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圖</a:t>
            </a:r>
            <a:r>
              <a:rPr lang="en-US" altLang="zh-TW" sz="3000" b="1" dirty="0" err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1b</a:t>
            </a:r>
            <a:r>
              <a:rPr lang="en-US" altLang="zh-TW" sz="30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.</a:t>
            </a:r>
            <a:r>
              <a:rPr lang="zh-TW" altLang="en-US" sz="30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zh-TW" altLang="en-US" sz="3000" b="1" i="0" u="none" strike="noStrike" dirty="0">
                <a:solidFill>
                  <a:srgbClr val="0000F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邁克森干涉儀光學儀器</a:t>
            </a:r>
            <a:r>
              <a:rPr lang="zh-TW" altLang="en-US" sz="30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原理與振動模式說明</a:t>
            </a:r>
            <a:endParaRPr lang="en-US" altLang="zh-TW" sz="3000" b="1" dirty="0">
              <a:solidFill>
                <a:srgbClr val="0000FF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138" name="圖片 137" descr="一張含有 文字 的圖片&#10;&#10;自動產生的描述">
            <a:extLst>
              <a:ext uri="{FF2B5EF4-FFF2-40B4-BE49-F238E27FC236}">
                <a16:creationId xmlns:a16="http://schemas.microsoft.com/office/drawing/2014/main" id="{C0FC7B77-1C3C-A96F-2A7B-E8B2FD4F3B7E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14"/>
          <a:stretch/>
        </p:blipFill>
        <p:spPr>
          <a:xfrm>
            <a:off x="21192835" y="21558725"/>
            <a:ext cx="6796472" cy="1500142"/>
          </a:xfrm>
          <a:prstGeom prst="rect">
            <a:avLst/>
          </a:prstGeom>
        </p:spPr>
      </p:pic>
      <p:pic>
        <p:nvPicPr>
          <p:cNvPr id="140" name="圖片 139" descr="一張含有 文字 的圖片&#10;&#10;自動產生的描述">
            <a:extLst>
              <a:ext uri="{FF2B5EF4-FFF2-40B4-BE49-F238E27FC236}">
                <a16:creationId xmlns:a16="http://schemas.microsoft.com/office/drawing/2014/main" id="{39AF9931-6853-EFBB-9451-1B68816471C1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2058" y="23796132"/>
            <a:ext cx="6796783" cy="1780707"/>
          </a:xfrm>
          <a:prstGeom prst="rect">
            <a:avLst/>
          </a:prstGeom>
        </p:spPr>
      </p:pic>
      <p:sp>
        <p:nvSpPr>
          <p:cNvPr id="143" name="文字方塊 142">
            <a:extLst>
              <a:ext uri="{FF2B5EF4-FFF2-40B4-BE49-F238E27FC236}">
                <a16:creationId xmlns:a16="http://schemas.microsoft.com/office/drawing/2014/main" id="{1A05BBBB-ED8D-367C-100B-6FB4895B553D}"/>
              </a:ext>
            </a:extLst>
          </p:cNvPr>
          <p:cNvSpPr txBox="1"/>
          <p:nvPr/>
        </p:nvSpPr>
        <p:spPr>
          <a:xfrm>
            <a:off x="21124041" y="25642536"/>
            <a:ext cx="488337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</a:pPr>
            <a:r>
              <a:rPr lang="zh-TW" altLang="en-US" sz="30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圖</a:t>
            </a:r>
            <a:r>
              <a:rPr lang="en-US" altLang="zh-TW" sz="3000" b="1" dirty="0" err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3h</a:t>
            </a:r>
            <a:r>
              <a:rPr lang="en-US" altLang="zh-TW" sz="30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.</a:t>
            </a:r>
            <a:r>
              <a:rPr lang="zh-TW" altLang="en-US" sz="30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altLang="zh-TW" sz="3000" b="1" dirty="0" err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OpenVINO</a:t>
            </a:r>
            <a:r>
              <a:rPr lang="zh-TW" altLang="en-US" sz="30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模型架構</a:t>
            </a:r>
            <a:endParaRPr lang="zh-TW" altLang="en-US" sz="3000" b="1" i="0" u="none" strike="noStrike" dirty="0">
              <a:solidFill>
                <a:srgbClr val="0000FF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4" name="文字方塊 143">
            <a:extLst>
              <a:ext uri="{FF2B5EF4-FFF2-40B4-BE49-F238E27FC236}">
                <a16:creationId xmlns:a16="http://schemas.microsoft.com/office/drawing/2014/main" id="{4C23E4C7-C323-8692-2B7D-C85DCE0FFCE5}"/>
              </a:ext>
            </a:extLst>
          </p:cNvPr>
          <p:cNvSpPr txBox="1"/>
          <p:nvPr/>
        </p:nvSpPr>
        <p:spPr>
          <a:xfrm>
            <a:off x="21124040" y="23141911"/>
            <a:ext cx="488337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</a:pPr>
            <a:r>
              <a:rPr lang="zh-TW" altLang="en-US" sz="30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圖</a:t>
            </a:r>
            <a:r>
              <a:rPr lang="en-US" altLang="zh-TW" sz="3000" b="1" dirty="0" err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3g</a:t>
            </a:r>
            <a:r>
              <a:rPr lang="en-US" altLang="zh-TW" sz="30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. </a:t>
            </a:r>
            <a:r>
              <a:rPr lang="en-US" altLang="zh-TW" sz="3000" b="1" dirty="0" err="1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OpenVINO</a:t>
            </a:r>
            <a:r>
              <a:rPr lang="en-US" altLang="zh-TW" sz="30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zh-TW" altLang="en-US" sz="30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模型推論</a:t>
            </a:r>
            <a:endParaRPr lang="zh-TW" altLang="en-US" sz="3000" b="1" i="0" u="none" strike="noStrike" dirty="0">
              <a:solidFill>
                <a:srgbClr val="0000FF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146" name="圖片 145">
            <a:extLst>
              <a:ext uri="{FF2B5EF4-FFF2-40B4-BE49-F238E27FC236}">
                <a16:creationId xmlns:a16="http://schemas.microsoft.com/office/drawing/2014/main" id="{92BA0C2B-9B82-6E99-B95D-5B096FAFFBCB}"/>
              </a:ext>
            </a:extLst>
          </p:cNvPr>
          <p:cNvPicPr>
            <a:picLocks noChangeAspect="1"/>
          </p:cNvPicPr>
          <p:nvPr/>
        </p:nvPicPr>
        <p:blipFill rotWithShape="1">
          <a:blip r:embed="rId26"/>
          <a:srcRect t="4997" r="27595"/>
          <a:stretch/>
        </p:blipFill>
        <p:spPr>
          <a:xfrm>
            <a:off x="20227631" y="26491835"/>
            <a:ext cx="9064863" cy="4799745"/>
          </a:xfrm>
          <a:prstGeom prst="rect">
            <a:avLst/>
          </a:prstGeom>
        </p:spPr>
      </p:pic>
      <p:sp>
        <p:nvSpPr>
          <p:cNvPr id="149" name="文字方塊 148">
            <a:extLst>
              <a:ext uri="{FF2B5EF4-FFF2-40B4-BE49-F238E27FC236}">
                <a16:creationId xmlns:a16="http://schemas.microsoft.com/office/drawing/2014/main" id="{01EE7211-0F97-D635-62B5-8FC6ACE9B880}"/>
              </a:ext>
            </a:extLst>
          </p:cNvPr>
          <p:cNvSpPr txBox="1"/>
          <p:nvPr/>
        </p:nvSpPr>
        <p:spPr>
          <a:xfrm>
            <a:off x="20264890" y="31461797"/>
            <a:ext cx="71609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04800" marR="304800">
              <a:spcAft>
                <a:spcPts val="0"/>
              </a:spcAft>
            </a:pPr>
            <a:r>
              <a:rPr lang="zh-TW" altLang="en-US" sz="28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圖</a:t>
            </a:r>
            <a:r>
              <a:rPr lang="en-US" altLang="zh-TW" sz="28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8. </a:t>
            </a:r>
            <a:r>
              <a:rPr lang="zh-TW" altLang="en-US" sz="28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altLang="zh-TW" sz="28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CPU</a:t>
            </a:r>
            <a:r>
              <a:rPr lang="zh-TW" altLang="en-US" sz="28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altLang="zh-TW" sz="28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Benchmark </a:t>
            </a:r>
            <a:r>
              <a:rPr lang="zh-TW" altLang="en-US" sz="28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優化後結果</a:t>
            </a:r>
            <a:endParaRPr lang="zh-TW" altLang="en-US" dirty="0">
              <a:solidFill>
                <a:srgbClr val="0000FF"/>
              </a:solidFill>
            </a:endParaRPr>
          </a:p>
        </p:txBody>
      </p:sp>
      <p:pic>
        <p:nvPicPr>
          <p:cNvPr id="55" name="圖片 54">
            <a:extLst>
              <a:ext uri="{FF2B5EF4-FFF2-40B4-BE49-F238E27FC236}">
                <a16:creationId xmlns:a16="http://schemas.microsoft.com/office/drawing/2014/main" id="{3062D801-A642-D81E-D86D-7F443A75006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4487187" y="10653054"/>
            <a:ext cx="12690792" cy="6738521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A47FC5DC-417D-AAA5-598A-21820D2B00BC}"/>
              </a:ext>
            </a:extLst>
          </p:cNvPr>
          <p:cNvSpPr txBox="1"/>
          <p:nvPr/>
        </p:nvSpPr>
        <p:spPr>
          <a:xfrm>
            <a:off x="15247819" y="41798332"/>
            <a:ext cx="14160152" cy="646331"/>
          </a:xfrm>
          <a:prstGeom prst="rect">
            <a:avLst/>
          </a:prstGeom>
          <a:solidFill>
            <a:srgbClr val="FCFEDA"/>
          </a:solidFill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2022</a:t>
            </a: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新興科技暨資訊應用創意競賽</a:t>
            </a:r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@</a:t>
            </a: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高雄市立海青高級工商職業學校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57F2E75-9734-E300-8A92-5D107E08BE4A}"/>
              </a:ext>
            </a:extLst>
          </p:cNvPr>
          <p:cNvSpPr txBox="1"/>
          <p:nvPr/>
        </p:nvSpPr>
        <p:spPr>
          <a:xfrm>
            <a:off x="7434087" y="26551125"/>
            <a:ext cx="787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solidFill>
                  <a:srgbClr val="0000FF"/>
                </a:solidFill>
              </a:rPr>
              <a:t>(a)</a:t>
            </a:r>
            <a:endParaRPr lang="zh-TW" altLang="en-US" sz="3200" dirty="0">
              <a:solidFill>
                <a:srgbClr val="0000FF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64203E2-F804-1E58-0E56-72595C438AED}"/>
              </a:ext>
            </a:extLst>
          </p:cNvPr>
          <p:cNvSpPr txBox="1"/>
          <p:nvPr/>
        </p:nvSpPr>
        <p:spPr>
          <a:xfrm>
            <a:off x="11088657" y="26533807"/>
            <a:ext cx="787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solidFill>
                  <a:srgbClr val="0000FF"/>
                </a:solidFill>
              </a:rPr>
              <a:t>(b)</a:t>
            </a:r>
            <a:endParaRPr lang="zh-TW" altLang="en-US" sz="3200" dirty="0">
              <a:solidFill>
                <a:srgbClr val="0000FF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92E9B0B-294E-9BDE-4CBD-36EB33684F68}"/>
              </a:ext>
            </a:extLst>
          </p:cNvPr>
          <p:cNvSpPr txBox="1"/>
          <p:nvPr/>
        </p:nvSpPr>
        <p:spPr>
          <a:xfrm>
            <a:off x="7515165" y="31692630"/>
            <a:ext cx="787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solidFill>
                  <a:srgbClr val="0000FF"/>
                </a:solidFill>
              </a:rPr>
              <a:t>(c)</a:t>
            </a:r>
            <a:endParaRPr lang="zh-TW" altLang="en-US" sz="3200" dirty="0">
              <a:solidFill>
                <a:srgbClr val="0000FF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15296BC-C5D4-983E-1FBD-204DE59CF381}"/>
              </a:ext>
            </a:extLst>
          </p:cNvPr>
          <p:cNvSpPr txBox="1"/>
          <p:nvPr/>
        </p:nvSpPr>
        <p:spPr>
          <a:xfrm>
            <a:off x="10944276" y="31730124"/>
            <a:ext cx="787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solidFill>
                  <a:srgbClr val="0000FF"/>
                </a:solidFill>
              </a:rPr>
              <a:t>(d)</a:t>
            </a:r>
            <a:endParaRPr lang="zh-TW" altLang="en-US" sz="3200" dirty="0">
              <a:solidFill>
                <a:srgbClr val="0000FF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C9ABC99-4358-D324-C659-1A55E921CC99}"/>
              </a:ext>
            </a:extLst>
          </p:cNvPr>
          <p:cNvSpPr txBox="1"/>
          <p:nvPr/>
        </p:nvSpPr>
        <p:spPr>
          <a:xfrm>
            <a:off x="14617037" y="26452647"/>
            <a:ext cx="787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solidFill>
                  <a:srgbClr val="0000FF"/>
                </a:solidFill>
              </a:rPr>
              <a:t>(a)</a:t>
            </a:r>
            <a:endParaRPr lang="zh-TW" altLang="en-US" sz="3200" dirty="0">
              <a:solidFill>
                <a:srgbClr val="0000FF"/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54ED04D-9F1F-E2D3-1E92-3149790A8D12}"/>
              </a:ext>
            </a:extLst>
          </p:cNvPr>
          <p:cNvSpPr txBox="1"/>
          <p:nvPr/>
        </p:nvSpPr>
        <p:spPr>
          <a:xfrm>
            <a:off x="14603217" y="31627145"/>
            <a:ext cx="787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solidFill>
                  <a:srgbClr val="0000FF"/>
                </a:solidFill>
              </a:rPr>
              <a:t>(b)</a:t>
            </a:r>
            <a:endParaRPr lang="zh-TW" altLang="en-US" sz="3200" dirty="0">
              <a:solidFill>
                <a:srgbClr val="0000FF"/>
              </a:solidFill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C2E6D686-6BF8-A041-2178-2C914F40250D}"/>
              </a:ext>
            </a:extLst>
          </p:cNvPr>
          <p:cNvSpPr txBox="1"/>
          <p:nvPr/>
        </p:nvSpPr>
        <p:spPr>
          <a:xfrm>
            <a:off x="1412235" y="15021336"/>
            <a:ext cx="69256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圖</a:t>
            </a:r>
            <a:r>
              <a:rPr lang="en-US" altLang="zh-TW" sz="28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1a. </a:t>
            </a:r>
            <a:r>
              <a:rPr lang="zh-TW" altLang="en-US" sz="28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架設</a:t>
            </a:r>
            <a:r>
              <a:rPr lang="zh-TW" altLang="en-US" sz="2800" b="1" i="0" dirty="0"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邁克生干涉儀雷射光「錄製設備」</a:t>
            </a:r>
            <a:endParaRPr lang="zh-TW" altLang="en-US" sz="2800" dirty="0">
              <a:solidFill>
                <a:srgbClr val="0000FF"/>
              </a:solidFill>
            </a:endParaRPr>
          </a:p>
        </p:txBody>
      </p:sp>
      <p:pic>
        <p:nvPicPr>
          <p:cNvPr id="39" name="圖片 38">
            <a:extLst>
              <a:ext uri="{FF2B5EF4-FFF2-40B4-BE49-F238E27FC236}">
                <a16:creationId xmlns:a16="http://schemas.microsoft.com/office/drawing/2014/main" id="{8CBE5A5C-AB3A-F676-DD87-FE8BAAD87A0F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0227631" y="33450874"/>
            <a:ext cx="9230303" cy="2603418"/>
          </a:xfrm>
          <a:prstGeom prst="rect">
            <a:avLst/>
          </a:prstGeom>
        </p:spPr>
      </p:pic>
      <p:sp>
        <p:nvSpPr>
          <p:cNvPr id="150" name="文字方塊 149">
            <a:extLst>
              <a:ext uri="{FF2B5EF4-FFF2-40B4-BE49-F238E27FC236}">
                <a16:creationId xmlns:a16="http://schemas.microsoft.com/office/drawing/2014/main" id="{481904DC-97E7-D6E8-1CC2-06A593BA005F}"/>
              </a:ext>
            </a:extLst>
          </p:cNvPr>
          <p:cNvSpPr txBox="1"/>
          <p:nvPr/>
        </p:nvSpPr>
        <p:spPr>
          <a:xfrm>
            <a:off x="19967146" y="33033790"/>
            <a:ext cx="8556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04800" marR="304800"/>
            <a:r>
              <a:rPr lang="zh-TW" altLang="en-US" sz="28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表格</a:t>
            </a:r>
            <a:r>
              <a:rPr lang="en-US" altLang="zh-TW" sz="28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1. CPU </a:t>
            </a:r>
            <a:r>
              <a:rPr lang="zh-TW" altLang="en-US" sz="28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與</a:t>
            </a:r>
            <a:r>
              <a:rPr lang="en-US" altLang="zh-TW" sz="28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GPU Benchmark</a:t>
            </a:r>
            <a:r>
              <a:rPr lang="zh-TW" altLang="en-US" sz="2800" b="1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優化結果</a:t>
            </a:r>
            <a:endParaRPr lang="zh-TW" altLang="en-US" dirty="0">
              <a:solidFill>
                <a:srgbClr val="002060"/>
              </a:solidFill>
            </a:endParaRPr>
          </a:p>
        </p:txBody>
      </p:sp>
      <p:pic>
        <p:nvPicPr>
          <p:cNvPr id="41" name="圖片 40">
            <a:extLst>
              <a:ext uri="{FF2B5EF4-FFF2-40B4-BE49-F238E27FC236}">
                <a16:creationId xmlns:a16="http://schemas.microsoft.com/office/drawing/2014/main" id="{0BA6711B-791E-0A6B-B201-1C6109DEA9B3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851086" y="11712010"/>
            <a:ext cx="5879713" cy="3252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69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403</TotalTime>
  <Words>945</Words>
  <Application>Microsoft Office PowerPoint</Application>
  <PresentationFormat>自訂</PresentationFormat>
  <Paragraphs>50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9" baseType="lpstr">
      <vt:lpstr>微軟正黑體</vt:lpstr>
      <vt:lpstr>微軟正黑體</vt:lpstr>
      <vt:lpstr>DFKai-SB</vt:lpstr>
      <vt:lpstr>DFKai-SB</vt:lpstr>
      <vt:lpstr>Arial</vt:lpstr>
      <vt:lpstr>Calibri</vt:lpstr>
      <vt:lpstr>Calibri Light</vt:lpstr>
      <vt:lpstr>Office 佈景主題</vt:lpstr>
      <vt:lpstr>  使用 LSTM循環神經網絡與OpenVINO優化預測繞射圖案產生的振動模式 Using LSTM and OpenVINO recurrent neural networks to predict vibration modes generated by the diffraction pattern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陳</dc:creator>
  <cp:lastModifiedBy>User</cp:lastModifiedBy>
  <cp:revision>84</cp:revision>
  <dcterms:created xsi:type="dcterms:W3CDTF">2019-06-06T05:08:45Z</dcterms:created>
  <dcterms:modified xsi:type="dcterms:W3CDTF">2022-12-08T02:04:47Z</dcterms:modified>
</cp:coreProperties>
</file>